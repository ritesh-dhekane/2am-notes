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255"/>
            <a:ext cx="9144000" cy="10261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98834" y="0"/>
            <a:ext cx="4745165" cy="60006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9087904" cy="10205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822" y="52323"/>
            <a:ext cx="9145584" cy="901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375" y="286588"/>
            <a:ext cx="8073390" cy="1175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3027" y="1407617"/>
            <a:ext cx="8450580" cy="446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175" y="1417319"/>
            <a:ext cx="7089647" cy="45262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5844" y="5963818"/>
            <a:ext cx="7442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Where</a:t>
            </a:r>
            <a:r>
              <a:rPr sz="1800" spc="34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f=</a:t>
            </a:r>
            <a:r>
              <a:rPr sz="1800" spc="-5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feed back(helps</a:t>
            </a:r>
            <a:r>
              <a:rPr sz="1800" spc="-11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In</a:t>
            </a:r>
            <a:r>
              <a:rPr sz="1800" spc="-9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controlling</a:t>
            </a:r>
            <a:r>
              <a:rPr sz="1800" spc="-10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the</a:t>
            </a:r>
            <a:r>
              <a:rPr sz="1800" spc="-9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sub</a:t>
            </a:r>
            <a:r>
              <a:rPr sz="1800" spc="-114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system)</a:t>
            </a: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tantia"/>
                <a:cs typeface="Constantia"/>
              </a:rPr>
              <a:t>ff=</a:t>
            </a:r>
            <a:r>
              <a:rPr sz="1800" spc="-2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feed</a:t>
            </a:r>
            <a:r>
              <a:rPr sz="1800" spc="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forward(serves</a:t>
            </a:r>
            <a:r>
              <a:rPr sz="1800" spc="-50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the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vital</a:t>
            </a:r>
            <a:r>
              <a:rPr sz="1800" spc="2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function</a:t>
            </a:r>
            <a:r>
              <a:rPr sz="1800" spc="-8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of</a:t>
            </a:r>
            <a:r>
              <a:rPr sz="1800" spc="1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providing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criteria</a:t>
            </a:r>
            <a:r>
              <a:rPr sz="1800" spc="-5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for</a:t>
            </a:r>
            <a:r>
              <a:rPr sz="1800" spc="-11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evaluation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361" rIns="0" bIns="0" rtlCol="0">
            <a:spAutoFit/>
          </a:bodyPr>
          <a:lstStyle/>
          <a:p>
            <a:pPr marL="235966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nstantia"/>
                <a:cs typeface="Constantia"/>
              </a:rPr>
              <a:t>Research</a:t>
            </a:r>
            <a:r>
              <a:rPr b="1" spc="-215" dirty="0">
                <a:latin typeface="Constantia"/>
                <a:cs typeface="Constantia"/>
              </a:rPr>
              <a:t> </a:t>
            </a:r>
            <a:r>
              <a:rPr b="1" spc="-10" dirty="0">
                <a:latin typeface="Constantia"/>
                <a:cs typeface="Constantia"/>
              </a:rPr>
              <a:t>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849376"/>
            <a:ext cx="8571230" cy="436816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19"/>
              </a:spcBef>
              <a:buSzPct val="95000"/>
              <a:buFont typeface="Wingdings"/>
              <a:buChar char=""/>
              <a:tabLst>
                <a:tab pos="286385" algn="l"/>
              </a:tabLst>
            </a:pPr>
            <a:r>
              <a:rPr sz="3000" spc="-10" dirty="0">
                <a:latin typeface="Times New Roman"/>
                <a:cs typeface="Times New Roman"/>
              </a:rPr>
              <a:t>Definition</a:t>
            </a:r>
            <a:endParaRPr sz="30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725"/>
              </a:spcBef>
              <a:buSzPct val="95000"/>
              <a:buFont typeface="Wingdings"/>
              <a:buChar char=""/>
              <a:tabLst>
                <a:tab pos="286385" algn="l"/>
              </a:tabLst>
            </a:pPr>
            <a:r>
              <a:rPr sz="3000" spc="-10" dirty="0">
                <a:latin typeface="Times New Roman"/>
                <a:cs typeface="Times New Roman"/>
              </a:rPr>
              <a:t>Purpose</a:t>
            </a:r>
            <a:endParaRPr sz="3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715"/>
              </a:spcBef>
              <a:buSzPct val="95000"/>
              <a:buFont typeface="Wingdings"/>
              <a:buChar char=""/>
              <a:tabLst>
                <a:tab pos="287020" algn="l"/>
              </a:tabLst>
            </a:pPr>
            <a:r>
              <a:rPr sz="3000" dirty="0">
                <a:latin typeface="Times New Roman"/>
                <a:cs typeface="Times New Roman"/>
              </a:rPr>
              <a:t>Importance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well-</a:t>
            </a:r>
            <a:r>
              <a:rPr sz="3000" dirty="0">
                <a:latin typeface="Times New Roman"/>
                <a:cs typeface="Times New Roman"/>
              </a:rPr>
              <a:t>structured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design</a:t>
            </a:r>
            <a:endParaRPr sz="3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885"/>
              </a:spcBef>
              <a:buSzPct val="95000"/>
              <a:buFont typeface="Wingdings"/>
              <a:buChar char=""/>
              <a:tabLst>
                <a:tab pos="287020" algn="l"/>
              </a:tabLst>
            </a:pPr>
            <a:r>
              <a:rPr sz="3000" spc="-25" dirty="0">
                <a:latin typeface="Times New Roman"/>
                <a:cs typeface="Times New Roman"/>
              </a:rPr>
              <a:t>Types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Research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Designs</a:t>
            </a:r>
            <a:r>
              <a:rPr sz="3800" dirty="0">
                <a:latin typeface="Times New Roman"/>
                <a:cs typeface="Times New Roman"/>
              </a:rPr>
              <a:t>:</a:t>
            </a:r>
            <a:r>
              <a:rPr sz="38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Exploratory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design,</a:t>
            </a:r>
            <a:r>
              <a:rPr sz="1900" spc="3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Descriptive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design,</a:t>
            </a:r>
            <a:endParaRPr sz="19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65"/>
              </a:spcBef>
            </a:pPr>
            <a:r>
              <a:rPr sz="1900" dirty="0">
                <a:latin typeface="Times New Roman"/>
                <a:cs typeface="Times New Roman"/>
              </a:rPr>
              <a:t>Experimental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design,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Quasi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experimental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design</a:t>
            </a:r>
            <a:endParaRPr sz="2200">
              <a:latin typeface="Times New Roman"/>
              <a:cs typeface="Times New Roman"/>
            </a:endParaRPr>
          </a:p>
          <a:p>
            <a:pPr marL="381635" indent="-368935">
              <a:lnSpc>
                <a:spcPct val="100000"/>
              </a:lnSpc>
              <a:spcBef>
                <a:spcPts val="690"/>
              </a:spcBef>
              <a:buSzPct val="95000"/>
              <a:buFont typeface="Wingdings"/>
              <a:buChar char=""/>
              <a:tabLst>
                <a:tab pos="381635" algn="l"/>
              </a:tabLst>
            </a:pPr>
            <a:r>
              <a:rPr sz="3000" dirty="0">
                <a:latin typeface="Times New Roman"/>
                <a:cs typeface="Times New Roman"/>
              </a:rPr>
              <a:t>Components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Research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Design: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Objectives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Hypotheses,</a:t>
            </a:r>
            <a:endParaRPr sz="19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20"/>
              </a:spcBef>
            </a:pPr>
            <a:r>
              <a:rPr sz="1900" spc="-20" dirty="0">
                <a:latin typeface="Times New Roman"/>
                <a:cs typeface="Times New Roman"/>
              </a:rPr>
              <a:t>Variables,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Methods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collection,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Sampling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design</a:t>
            </a:r>
            <a:endParaRPr sz="1900">
              <a:latin typeface="Times New Roman"/>
              <a:cs typeface="Times New Roman"/>
            </a:endParaRPr>
          </a:p>
          <a:p>
            <a:pPr marL="287020" marR="425450" indent="-274955">
              <a:lnSpc>
                <a:spcPct val="100699"/>
              </a:lnSpc>
              <a:spcBef>
                <a:spcPts val="680"/>
              </a:spcBef>
              <a:buSzPct val="95000"/>
              <a:buFont typeface="Wingdings"/>
              <a:buChar char=""/>
              <a:tabLst>
                <a:tab pos="287020" algn="l"/>
              </a:tabLst>
            </a:pPr>
            <a:r>
              <a:rPr sz="3000" spc="-35" dirty="0">
                <a:latin typeface="Times New Roman"/>
                <a:cs typeface="Times New Roman"/>
              </a:rPr>
              <a:t>Validity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Reliability: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Internal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validity,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External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validity,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Construct validity,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Reliability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consistency.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5470" y="346405"/>
            <a:ext cx="28962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Research</a:t>
            </a:r>
            <a:r>
              <a:rPr sz="3200" b="1" spc="-16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Design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6410" y="85089"/>
            <a:ext cx="15544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Times New Roman"/>
                <a:cs typeface="Times New Roman"/>
              </a:rPr>
              <a:t>Definition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496" y="620649"/>
            <a:ext cx="8403590" cy="58592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Once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clearly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defined,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prepare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conceptual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framework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conducting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study.</a:t>
            </a:r>
            <a:endParaRPr sz="2000" dirty="0">
              <a:latin typeface="Times New Roman"/>
              <a:cs typeface="Times New Roman"/>
            </a:endParaRPr>
          </a:p>
          <a:p>
            <a:pPr marL="12700" algn="just">
              <a:lnSpc>
                <a:spcPts val="239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Definition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500"/>
              </a:lnSpc>
            </a:pPr>
            <a:r>
              <a:rPr sz="2000" dirty="0">
                <a:latin typeface="Times New Roman"/>
                <a:cs typeface="Times New Roman"/>
              </a:rPr>
              <a:t>According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C.R.</a:t>
            </a:r>
            <a:r>
              <a:rPr sz="2000" b="1" spc="1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Kothari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Constantia"/>
                <a:cs typeface="Constantia"/>
              </a:rPr>
              <a:t>“A</a:t>
            </a:r>
            <a:r>
              <a:rPr sz="2000" spc="110" dirty="0">
                <a:latin typeface="Constantia"/>
                <a:cs typeface="Constantia"/>
              </a:rPr>
              <a:t>  </a:t>
            </a:r>
            <a:r>
              <a:rPr sz="2000" dirty="0">
                <a:latin typeface="Constantia"/>
                <a:cs typeface="Constantia"/>
              </a:rPr>
              <a:t>research</a:t>
            </a:r>
            <a:r>
              <a:rPr sz="2000" spc="110" dirty="0">
                <a:latin typeface="Constantia"/>
                <a:cs typeface="Constantia"/>
              </a:rPr>
              <a:t>  </a:t>
            </a:r>
            <a:r>
              <a:rPr sz="2000" dirty="0">
                <a:latin typeface="Constantia"/>
                <a:cs typeface="Constantia"/>
              </a:rPr>
              <a:t>design</a:t>
            </a:r>
            <a:r>
              <a:rPr sz="2000" spc="105" dirty="0">
                <a:latin typeface="Constantia"/>
                <a:cs typeface="Constantia"/>
              </a:rPr>
              <a:t>  </a:t>
            </a:r>
            <a:r>
              <a:rPr sz="2000" dirty="0">
                <a:latin typeface="Constantia"/>
                <a:cs typeface="Constantia"/>
              </a:rPr>
              <a:t>is</a:t>
            </a:r>
            <a:r>
              <a:rPr sz="2000" spc="100" dirty="0">
                <a:latin typeface="Constantia"/>
                <a:cs typeface="Constantia"/>
              </a:rPr>
              <a:t>  </a:t>
            </a:r>
            <a:r>
              <a:rPr sz="2000" dirty="0">
                <a:latin typeface="Constantia"/>
                <a:cs typeface="Constantia"/>
              </a:rPr>
              <a:t>the</a:t>
            </a:r>
            <a:r>
              <a:rPr sz="2000" spc="100" dirty="0">
                <a:latin typeface="Constantia"/>
                <a:cs typeface="Constantia"/>
              </a:rPr>
              <a:t>  </a:t>
            </a:r>
            <a:r>
              <a:rPr sz="2000" dirty="0">
                <a:latin typeface="Constantia"/>
                <a:cs typeface="Constantia"/>
              </a:rPr>
              <a:t>arrangement</a:t>
            </a:r>
            <a:r>
              <a:rPr sz="2000" spc="100" dirty="0">
                <a:latin typeface="Constantia"/>
                <a:cs typeface="Constantia"/>
              </a:rPr>
              <a:t>  </a:t>
            </a:r>
            <a:r>
              <a:rPr sz="2000" spc="-25" dirty="0">
                <a:latin typeface="Constantia"/>
                <a:cs typeface="Constantia"/>
              </a:rPr>
              <a:t>of </a:t>
            </a:r>
            <a:r>
              <a:rPr sz="2000" dirty="0">
                <a:latin typeface="Constantia"/>
                <a:cs typeface="Constantia"/>
              </a:rPr>
              <a:t>conditions</a:t>
            </a:r>
            <a:r>
              <a:rPr sz="2000" spc="23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for</a:t>
            </a:r>
            <a:r>
              <a:rPr sz="2000" spc="235" dirty="0">
                <a:latin typeface="Constantia"/>
                <a:cs typeface="Constantia"/>
              </a:rPr>
              <a:t>  </a:t>
            </a:r>
            <a:r>
              <a:rPr sz="2000" dirty="0">
                <a:latin typeface="Constantia"/>
                <a:cs typeface="Constantia"/>
              </a:rPr>
              <a:t>collection</a:t>
            </a:r>
            <a:r>
              <a:rPr sz="2000" spc="24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and</a:t>
            </a:r>
            <a:r>
              <a:rPr sz="2000" spc="26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analysis</a:t>
            </a:r>
            <a:r>
              <a:rPr sz="2000" spc="250" dirty="0">
                <a:latin typeface="Constantia"/>
                <a:cs typeface="Constantia"/>
              </a:rPr>
              <a:t>  </a:t>
            </a:r>
            <a:r>
              <a:rPr sz="2000" dirty="0">
                <a:latin typeface="Constantia"/>
                <a:cs typeface="Constantia"/>
              </a:rPr>
              <a:t>of</a:t>
            </a:r>
            <a:r>
              <a:rPr sz="2000" spc="280" dirty="0">
                <a:latin typeface="Constantia"/>
                <a:cs typeface="Constantia"/>
              </a:rPr>
              <a:t>  </a:t>
            </a:r>
            <a:r>
              <a:rPr sz="2000" dirty="0">
                <a:latin typeface="Constantia"/>
                <a:cs typeface="Constantia"/>
              </a:rPr>
              <a:t>data</a:t>
            </a:r>
            <a:r>
              <a:rPr sz="2000" spc="22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in</a:t>
            </a:r>
            <a:r>
              <a:rPr sz="2000" spc="229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a</a:t>
            </a:r>
            <a:r>
              <a:rPr sz="2000" spc="18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manner</a:t>
            </a:r>
            <a:r>
              <a:rPr sz="2000" spc="204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that</a:t>
            </a:r>
            <a:r>
              <a:rPr sz="2000" spc="21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aims</a:t>
            </a:r>
            <a:r>
              <a:rPr sz="2000" spc="229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to </a:t>
            </a:r>
            <a:r>
              <a:rPr sz="2000" spc="-20" dirty="0">
                <a:latin typeface="Constantia"/>
                <a:cs typeface="Constantia"/>
              </a:rPr>
              <a:t>combine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relevance</a:t>
            </a:r>
            <a:r>
              <a:rPr sz="2000" spc="-4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to</a:t>
            </a:r>
            <a:r>
              <a:rPr sz="2000" spc="-10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the</a:t>
            </a:r>
            <a:r>
              <a:rPr sz="2000" spc="-10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research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purpose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with</a:t>
            </a:r>
            <a:r>
              <a:rPr sz="2000" spc="-100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economy</a:t>
            </a:r>
            <a:r>
              <a:rPr sz="2000" spc="-5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in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spc="-40" dirty="0">
                <a:latin typeface="Constantia"/>
                <a:cs typeface="Constantia"/>
              </a:rPr>
              <a:t>procedure”.</a:t>
            </a:r>
            <a:r>
              <a:rPr sz="2000" spc="-1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It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is</a:t>
            </a:r>
            <a:endParaRPr sz="2000" dirty="0">
              <a:latin typeface="Constantia"/>
              <a:cs typeface="Constantia"/>
            </a:endParaRPr>
          </a:p>
          <a:p>
            <a:pPr marL="12700" marR="10795" algn="just">
              <a:lnSpc>
                <a:spcPct val="100000"/>
              </a:lnSpc>
              <a:spcBef>
                <a:spcPts val="4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conceptual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conducted,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constitutes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blueprint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collection,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measurement,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 of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data.</a:t>
            </a:r>
            <a:endParaRPr sz="2000" dirty="0">
              <a:latin typeface="Times New Roman"/>
              <a:cs typeface="Times New Roman"/>
            </a:endParaRPr>
          </a:p>
          <a:p>
            <a:pPr marL="12700" marR="762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Ranjit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Kumar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describes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guides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researcher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collecting,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analyzing,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interpreting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observations.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systematic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approach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answer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questions.</a:t>
            </a:r>
            <a:endParaRPr sz="2000" dirty="0">
              <a:latin typeface="Times New Roman"/>
              <a:cs typeface="Times New Roman"/>
            </a:endParaRPr>
          </a:p>
          <a:p>
            <a:pPr marL="12700" marR="762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Donald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R.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Cooper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Pamela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Schindler </a:t>
            </a:r>
            <a:r>
              <a:rPr sz="2000" dirty="0">
                <a:latin typeface="Times New Roman"/>
                <a:cs typeface="Times New Roman"/>
              </a:rPr>
              <a:t>emphasize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selecting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sources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answer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question.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framework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specifying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relationships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among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study's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variables.</a:t>
            </a:r>
            <a:endParaRPr sz="200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C.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George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Thomas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highlights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structured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evidence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obtained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researcher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effectively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research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logically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unambiguously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possible</a:t>
            </a:r>
            <a:r>
              <a:rPr sz="1800" spc="-10" dirty="0">
                <a:latin typeface="Constantia"/>
                <a:cs typeface="Constantia"/>
              </a:rPr>
              <a:t>.</a:t>
            </a:r>
            <a:endParaRPr sz="18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957" y="944118"/>
            <a:ext cx="841375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Deepak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Chawla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Neena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Sondhi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outline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957" y="1248918"/>
            <a:ext cx="81153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writing 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hypotheses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957" y="1401572"/>
            <a:ext cx="8364855" cy="2006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55" dirty="0">
                <a:latin typeface="Times New Roman"/>
                <a:cs typeface="Times New Roman"/>
              </a:rPr>
              <a:t>i</a:t>
            </a:r>
            <a:r>
              <a:rPr sz="4800" spc="-375" baseline="4340" dirty="0">
                <a:latin typeface="Times New Roman"/>
                <a:cs typeface="Times New Roman"/>
              </a:rPr>
              <a:t>.</a:t>
            </a:r>
            <a:r>
              <a:rPr sz="2000" spc="-45" dirty="0">
                <a:latin typeface="Times New Roman"/>
                <a:cs typeface="Times New Roman"/>
              </a:rPr>
              <a:t>m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licati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spc="-2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comprehensive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procedures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collecting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analyzing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methodologically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questions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addressed appropriately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918718"/>
            <a:ext cx="742188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5"/>
              </a:spcBef>
              <a:buSzPct val="93181"/>
              <a:buFont typeface="Segoe UI Symbol"/>
              <a:buChar char="⚫"/>
              <a:tabLst>
                <a:tab pos="286385" algn="l"/>
              </a:tabLst>
            </a:pP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explicitly,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design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decisions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happen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respect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0564" y="1354277"/>
            <a:ext cx="312039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/>
              <a:t>(i)</a:t>
            </a:r>
            <a:r>
              <a:rPr sz="2200" spc="-65" dirty="0"/>
              <a:t> </a:t>
            </a:r>
            <a:r>
              <a:rPr sz="2200" dirty="0"/>
              <a:t>What</a:t>
            </a:r>
            <a:r>
              <a:rPr sz="2200" spc="-10" dirty="0"/>
              <a:t> </a:t>
            </a:r>
            <a:r>
              <a:rPr sz="2200" dirty="0"/>
              <a:t>is</a:t>
            </a:r>
            <a:r>
              <a:rPr sz="2200" spc="-40" dirty="0"/>
              <a:t> </a:t>
            </a:r>
            <a:r>
              <a:rPr sz="2200" dirty="0"/>
              <a:t>the</a:t>
            </a:r>
            <a:r>
              <a:rPr sz="2200" spc="-20" dirty="0"/>
              <a:t> </a:t>
            </a:r>
            <a:r>
              <a:rPr sz="2200" dirty="0"/>
              <a:t>study</a:t>
            </a:r>
            <a:r>
              <a:rPr sz="2200" spc="-20" dirty="0"/>
              <a:t> </a:t>
            </a:r>
            <a:r>
              <a:rPr sz="2200" spc="-10" dirty="0"/>
              <a:t>about?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810564" y="1691208"/>
            <a:ext cx="6068695" cy="39858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18465" indent="-405765">
              <a:lnSpc>
                <a:spcPct val="100000"/>
              </a:lnSpc>
              <a:spcBef>
                <a:spcPts val="890"/>
              </a:spcBef>
              <a:buAutoNum type="romanLcParenBoth" startAt="2"/>
              <a:tabLst>
                <a:tab pos="418465" algn="l"/>
              </a:tabLst>
            </a:pPr>
            <a:r>
              <a:rPr sz="2200" dirty="0">
                <a:latin typeface="Times New Roman"/>
                <a:cs typeface="Times New Roman"/>
              </a:rPr>
              <a:t>Why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made?</a:t>
            </a:r>
            <a:endParaRPr sz="2200">
              <a:latin typeface="Times New Roman"/>
              <a:cs typeface="Times New Roman"/>
            </a:endParaRPr>
          </a:p>
          <a:p>
            <a:pPr marL="494030" indent="-481330">
              <a:lnSpc>
                <a:spcPct val="100000"/>
              </a:lnSpc>
              <a:spcBef>
                <a:spcPts val="795"/>
              </a:spcBef>
              <a:buAutoNum type="romanLcParenBoth" startAt="2"/>
              <a:tabLst>
                <a:tab pos="494030" algn="l"/>
              </a:tabLst>
            </a:pP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carried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out?</a:t>
            </a:r>
            <a:endParaRPr sz="2200">
              <a:latin typeface="Times New Roman"/>
              <a:cs typeface="Times New Roman"/>
            </a:endParaRPr>
          </a:p>
          <a:p>
            <a:pPr marL="480695" indent="-467995">
              <a:lnSpc>
                <a:spcPct val="100000"/>
              </a:lnSpc>
              <a:spcBef>
                <a:spcPts val="790"/>
              </a:spcBef>
              <a:buAutoNum type="romanLcParenBoth" startAt="2"/>
              <a:tabLst>
                <a:tab pos="480695" algn="l"/>
              </a:tabLst>
            </a:pP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required?</a:t>
            </a:r>
            <a:endParaRPr sz="2200">
              <a:latin typeface="Times New Roman"/>
              <a:cs typeface="Times New Roman"/>
            </a:endParaRPr>
          </a:p>
          <a:p>
            <a:pPr marL="403860" indent="-391160">
              <a:lnSpc>
                <a:spcPct val="100000"/>
              </a:lnSpc>
              <a:spcBef>
                <a:spcPts val="795"/>
              </a:spcBef>
              <a:buAutoNum type="romanLcParenBoth" startAt="2"/>
              <a:tabLst>
                <a:tab pos="403860" algn="l"/>
              </a:tabLst>
            </a:pP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found?</a:t>
            </a:r>
            <a:endParaRPr sz="2200">
              <a:latin typeface="Times New Roman"/>
              <a:cs typeface="Times New Roman"/>
            </a:endParaRPr>
          </a:p>
          <a:p>
            <a:pPr marL="480059" indent="-467359">
              <a:lnSpc>
                <a:spcPct val="100000"/>
              </a:lnSpc>
              <a:spcBef>
                <a:spcPts val="795"/>
              </a:spcBef>
              <a:buAutoNum type="romanLcParenBoth" startAt="2"/>
              <a:tabLst>
                <a:tab pos="480059" algn="l"/>
              </a:tabLst>
            </a:pP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periods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include?</a:t>
            </a:r>
            <a:endParaRPr sz="220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spcBef>
                <a:spcPts val="795"/>
              </a:spcBef>
              <a:buAutoNum type="romanLcParenBoth" startAt="2"/>
              <a:tabLst>
                <a:tab pos="559435" algn="l"/>
              </a:tabLst>
            </a:pP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sample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design?</a:t>
            </a:r>
            <a:endParaRPr sz="2200">
              <a:latin typeface="Times New Roman"/>
              <a:cs typeface="Times New Roman"/>
            </a:endParaRPr>
          </a:p>
          <a:p>
            <a:pPr marL="633730" indent="-621030">
              <a:lnSpc>
                <a:spcPct val="100000"/>
              </a:lnSpc>
              <a:spcBef>
                <a:spcPts val="790"/>
              </a:spcBef>
              <a:buAutoNum type="romanLcParenBoth" startAt="2"/>
              <a:tabLst>
                <a:tab pos="633730" algn="l"/>
              </a:tabLst>
            </a:pP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techniques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collection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0" dirty="0">
                <a:latin typeface="Times New Roman"/>
                <a:cs typeface="Times New Roman"/>
              </a:rPr>
              <a:t> used?</a:t>
            </a:r>
            <a:endParaRPr sz="2200">
              <a:latin typeface="Times New Roman"/>
              <a:cs typeface="Times New Roman"/>
            </a:endParaRPr>
          </a:p>
          <a:p>
            <a:pPr marL="485775" indent="-473075">
              <a:lnSpc>
                <a:spcPct val="100000"/>
              </a:lnSpc>
              <a:spcBef>
                <a:spcPts val="795"/>
              </a:spcBef>
              <a:buAutoNum type="romanLcParenBoth" startAt="2"/>
              <a:tabLst>
                <a:tab pos="485775" algn="l"/>
              </a:tabLst>
            </a:pP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analysed?</a:t>
            </a:r>
            <a:endParaRPr sz="2200">
              <a:latin typeface="Times New Roman"/>
              <a:cs typeface="Times New Roman"/>
            </a:endParaRPr>
          </a:p>
          <a:p>
            <a:pPr marL="407670" indent="-394970">
              <a:lnSpc>
                <a:spcPct val="100000"/>
              </a:lnSpc>
              <a:spcBef>
                <a:spcPts val="835"/>
              </a:spcBef>
              <a:buAutoNum type="romanLcParenBoth" startAt="2"/>
              <a:tabLst>
                <a:tab pos="40767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style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report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0" dirty="0">
                <a:latin typeface="Times New Roman"/>
                <a:cs typeface="Times New Roman"/>
              </a:rPr>
              <a:t> p</a:t>
            </a:r>
            <a:r>
              <a:rPr sz="2400" spc="-10" dirty="0">
                <a:latin typeface="Constantia"/>
                <a:cs typeface="Constantia"/>
              </a:rPr>
              <a:t>repared?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894333"/>
            <a:ext cx="8061959" cy="5208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split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parts: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000">
              <a:latin typeface="Times New Roman"/>
              <a:cs typeface="Times New Roman"/>
            </a:endParaRPr>
          </a:p>
          <a:p>
            <a:pPr marL="287020" marR="5080" indent="344170">
              <a:lnSpc>
                <a:spcPct val="100000"/>
              </a:lnSpc>
              <a:buFont typeface="Times New Roman"/>
              <a:buAutoNum type="alphaLcParenBoth"/>
              <a:tabLst>
                <a:tab pos="631190" algn="l"/>
              </a:tabLst>
            </a:pP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sampling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design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observed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study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lphaLcParenBoth"/>
            </a:pPr>
            <a:endParaRPr sz="2000">
              <a:latin typeface="Times New Roman"/>
              <a:cs typeface="Times New Roman"/>
            </a:endParaRPr>
          </a:p>
          <a:p>
            <a:pPr marL="645795" indent="-358775">
              <a:lnSpc>
                <a:spcPct val="100000"/>
              </a:lnSpc>
              <a:buFont typeface="Times New Roman"/>
              <a:buAutoNum type="alphaLcParenBoth"/>
              <a:tabLst>
                <a:tab pos="645795" algn="l"/>
              </a:tabLst>
            </a:pP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observational</a:t>
            </a:r>
            <a:r>
              <a:rPr sz="2000" i="1" spc="-10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design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relates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observations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made;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000">
              <a:latin typeface="Times New Roman"/>
              <a:cs typeface="Times New Roman"/>
            </a:endParaRPr>
          </a:p>
          <a:p>
            <a:pPr marL="287020" marR="259079" indent="343535">
              <a:lnSpc>
                <a:spcPct val="100000"/>
              </a:lnSpc>
              <a:buFont typeface="Times New Roman"/>
              <a:buAutoNum type="alphaLcParenBoth" startAt="3"/>
              <a:tabLst>
                <a:tab pos="630555" algn="l"/>
              </a:tabLst>
            </a:pP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statistical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design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concerns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question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many </a:t>
            </a:r>
            <a:r>
              <a:rPr sz="2000" dirty="0">
                <a:latin typeface="Times New Roman"/>
                <a:cs typeface="Times New Roman"/>
              </a:rPr>
              <a:t>items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gathered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analysed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Times New Roman"/>
              <a:buAutoNum type="alphaLcParenBoth" startAt="3"/>
            </a:pPr>
            <a:endParaRPr sz="2000">
              <a:latin typeface="Times New Roman"/>
              <a:cs typeface="Times New Roman"/>
            </a:endParaRPr>
          </a:p>
          <a:p>
            <a:pPr marL="624205" indent="-358775">
              <a:lnSpc>
                <a:spcPct val="100000"/>
              </a:lnSpc>
              <a:spcBef>
                <a:spcPts val="5"/>
              </a:spcBef>
              <a:buFont typeface="Times New Roman"/>
              <a:buAutoNum type="alphaLcParenBoth" startAt="3"/>
              <a:tabLst>
                <a:tab pos="624205" algn="l"/>
              </a:tabLst>
            </a:pP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operational</a:t>
            </a:r>
            <a:r>
              <a:rPr sz="2000" i="1" spc="-9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design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procedures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specified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sampling, statistical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observational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carried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out.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71981"/>
            <a:ext cx="7797800" cy="3831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Important features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-20" dirty="0">
                <a:latin typeface="Times New Roman"/>
                <a:cs typeface="Times New Roman"/>
              </a:rPr>
              <a:t> are: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648335" indent="-361315">
              <a:lnSpc>
                <a:spcPct val="100000"/>
              </a:lnSpc>
              <a:buAutoNum type="romanLcParenBoth"/>
              <a:tabLst>
                <a:tab pos="64833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relevant 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problem.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400">
              <a:latin typeface="Times New Roman"/>
              <a:cs typeface="Times New Roman"/>
            </a:endParaRPr>
          </a:p>
          <a:p>
            <a:pPr marL="733425" indent="-446405">
              <a:lnSpc>
                <a:spcPct val="100000"/>
              </a:lnSpc>
              <a:buAutoNum type="romanLcParenBoth" startAt="2"/>
              <a:tabLst>
                <a:tab pos="73342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strategy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specifying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gathering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analysing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400">
              <a:latin typeface="Times New Roman"/>
              <a:cs typeface="Times New Roman"/>
            </a:endParaRPr>
          </a:p>
          <a:p>
            <a:pPr marL="287020" marR="590550" indent="529590">
              <a:lnSpc>
                <a:spcPct val="100000"/>
              </a:lnSpc>
              <a:buAutoNum type="romanLcParenBoth" startAt="3"/>
              <a:tabLst>
                <a:tab pos="816610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most </a:t>
            </a:r>
            <a:r>
              <a:rPr sz="2400" dirty="0">
                <a:latin typeface="Times New Roman"/>
                <a:cs typeface="Times New Roman"/>
              </a:rPr>
              <a:t>studies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 two</a:t>
            </a:r>
            <a:r>
              <a:rPr sz="2400" spc="-10" dirty="0">
                <a:latin typeface="Times New Roman"/>
                <a:cs typeface="Times New Roman"/>
              </a:rPr>
              <a:t> constraints.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564" y="760599"/>
            <a:ext cx="6910070" cy="37572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contain</a:t>
            </a:r>
            <a:endParaRPr sz="2400">
              <a:latin typeface="Times New Roman"/>
              <a:cs typeface="Times New Roman"/>
            </a:endParaRPr>
          </a:p>
          <a:p>
            <a:pPr marL="426720" indent="-414020">
              <a:lnSpc>
                <a:spcPct val="100000"/>
              </a:lnSpc>
              <a:spcBef>
                <a:spcPts val="580"/>
              </a:spcBef>
              <a:buAutoNum type="alphaLcParenBoth"/>
              <a:tabLst>
                <a:tab pos="42672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problem;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Times New Roman"/>
              <a:buAutoNum type="alphaLcParenBoth"/>
            </a:pPr>
            <a:endParaRPr sz="240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buAutoNum type="alphaLcParenBoth"/>
              <a:tabLst>
                <a:tab pos="444500" algn="l"/>
              </a:tabLst>
            </a:pPr>
            <a:r>
              <a:rPr sz="2400" dirty="0">
                <a:latin typeface="Times New Roman"/>
                <a:cs typeface="Times New Roman"/>
              </a:rPr>
              <a:t>procedures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 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gathering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information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Times New Roman"/>
              <a:cs typeface="Times New Roman"/>
            </a:endParaRPr>
          </a:p>
          <a:p>
            <a:pPr marL="426720" indent="-414020">
              <a:lnSpc>
                <a:spcPct val="100000"/>
              </a:lnSpc>
              <a:buAutoNum type="alphaLcParenBoth" startAt="3"/>
              <a:tabLst>
                <a:tab pos="42672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studied;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Font typeface="Times New Roman"/>
              <a:buAutoNum type="alphaLcParenBoth" startAt="3"/>
            </a:pPr>
            <a:endParaRPr sz="240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buAutoNum type="alphaLcParenBoth" startAt="3"/>
              <a:tabLst>
                <a:tab pos="444500" algn="l"/>
              </a:tabLst>
            </a:pP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analysing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017" y="528015"/>
            <a:ext cx="4767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Research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design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science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1017" y="1231837"/>
            <a:ext cx="7317105" cy="386524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97485" indent="-184785">
              <a:lnSpc>
                <a:spcPct val="100000"/>
              </a:lnSpc>
              <a:spcBef>
                <a:spcPts val="1280"/>
              </a:spcBef>
              <a:buAutoNum type="arabicPeriod"/>
              <a:tabLst>
                <a:tab pos="197485" algn="l"/>
              </a:tabLst>
            </a:pPr>
            <a:r>
              <a:rPr sz="1800" dirty="0">
                <a:latin typeface="Constantia"/>
                <a:cs typeface="Constantia"/>
              </a:rPr>
              <a:t>Problem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Definition</a:t>
            </a:r>
            <a:endParaRPr sz="1800">
              <a:latin typeface="Constantia"/>
              <a:cs typeface="Constantia"/>
            </a:endParaRPr>
          </a:p>
          <a:p>
            <a:pPr marL="286385" lvl="1" indent="-273685">
              <a:lnSpc>
                <a:spcPct val="100000"/>
              </a:lnSpc>
              <a:spcBef>
                <a:spcPts val="118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precise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statement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problem.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515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Definition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scope,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limitations,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 </a:t>
            </a:r>
            <a:r>
              <a:rPr sz="1800" spc="-10" dirty="0">
                <a:latin typeface="Times New Roman"/>
                <a:cs typeface="Times New Roman"/>
              </a:rPr>
              <a:t>questions.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51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Justification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problem’s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relevance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science.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AutoNum type="arabicPeriod" startAt="2"/>
              <a:tabLst>
                <a:tab pos="240029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Review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Theoretical</a:t>
            </a:r>
            <a:r>
              <a:rPr sz="1800" spc="-10" dirty="0">
                <a:latin typeface="Times New Roman"/>
                <a:cs typeface="Times New Roman"/>
              </a:rPr>
              <a:t> Framework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13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Review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existing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algorithms,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methodologies.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515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Identification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20" dirty="0">
                <a:latin typeface="Times New Roman"/>
                <a:cs typeface="Times New Roman"/>
              </a:rPr>
              <a:t> gaps.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515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Explanation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theoretical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foundations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guide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study.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443230"/>
            <a:ext cx="275844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Constantia"/>
                <a:cs typeface="Constantia"/>
              </a:rPr>
              <a:t>3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Methodology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5632" y="6557724"/>
            <a:ext cx="145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0" dirty="0">
                <a:solidFill>
                  <a:srgbClr val="045C75"/>
                </a:solidFill>
                <a:latin typeface="Constantia"/>
                <a:cs typeface="Constantia"/>
              </a:rPr>
              <a:t>Dr.</a:t>
            </a:r>
            <a:r>
              <a:rPr sz="1200" spc="-55" dirty="0">
                <a:solidFill>
                  <a:srgbClr val="045C75"/>
                </a:solidFill>
                <a:latin typeface="Constantia"/>
                <a:cs typeface="Constantia"/>
              </a:rPr>
              <a:t> </a:t>
            </a:r>
            <a:r>
              <a:rPr sz="1200" dirty="0">
                <a:solidFill>
                  <a:srgbClr val="045C75"/>
                </a:solidFill>
                <a:latin typeface="Constantia"/>
                <a:cs typeface="Constantia"/>
              </a:rPr>
              <a:t>Manjiri</a:t>
            </a:r>
            <a:r>
              <a:rPr sz="1200" spc="-45" dirty="0">
                <a:solidFill>
                  <a:srgbClr val="045C75"/>
                </a:solidFill>
                <a:latin typeface="Constantia"/>
                <a:cs typeface="Constantia"/>
              </a:rPr>
              <a:t> </a:t>
            </a:r>
            <a:r>
              <a:rPr sz="1200" dirty="0">
                <a:solidFill>
                  <a:srgbClr val="045C75"/>
                </a:solidFill>
                <a:latin typeface="Constantia"/>
                <a:cs typeface="Constantia"/>
              </a:rPr>
              <a:t>B.</a:t>
            </a:r>
            <a:r>
              <a:rPr sz="1200" spc="-55" dirty="0">
                <a:solidFill>
                  <a:srgbClr val="045C75"/>
                </a:solidFill>
                <a:latin typeface="Constantia"/>
                <a:cs typeface="Constantia"/>
              </a:rPr>
              <a:t> </a:t>
            </a:r>
            <a:r>
              <a:rPr sz="1200" spc="-10" dirty="0">
                <a:solidFill>
                  <a:srgbClr val="045C75"/>
                </a:solidFill>
                <a:latin typeface="Constantia"/>
                <a:cs typeface="Constantia"/>
              </a:rPr>
              <a:t>Patwari</a:t>
            </a:r>
            <a:endParaRPr sz="1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427" y="1135507"/>
            <a:ext cx="8007984" cy="462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Selection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 type: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Experimental,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theoretical,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empirical,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simulation-</a:t>
            </a:r>
            <a:r>
              <a:rPr sz="1800" spc="-10" dirty="0">
                <a:latin typeface="Times New Roman"/>
                <a:cs typeface="Times New Roman"/>
              </a:rPr>
              <a:t>based</a:t>
            </a:r>
            <a:endParaRPr sz="18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research.</a:t>
            </a:r>
            <a:endParaRPr sz="1800">
              <a:latin typeface="Times New Roman"/>
              <a:cs typeface="Times New Roman"/>
            </a:endParaRPr>
          </a:p>
          <a:p>
            <a:pPr marL="286385" marR="120014" indent="-274320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spc="-10" dirty="0">
                <a:latin typeface="Times New Roman"/>
                <a:cs typeface="Times New Roman"/>
              </a:rPr>
              <a:t>Tools,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techniques,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frameworks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(e.g.,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AI/ML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structures, </a:t>
            </a:r>
            <a:r>
              <a:rPr sz="1800" dirty="0">
                <a:latin typeface="Times New Roman"/>
                <a:cs typeface="Times New Roman"/>
              </a:rPr>
              <a:t>cloud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platforms).</a:t>
            </a:r>
            <a:endParaRPr sz="1800">
              <a:latin typeface="Times New Roman"/>
              <a:cs typeface="Times New Roman"/>
            </a:endParaRPr>
          </a:p>
          <a:p>
            <a:pPr marL="286385" marR="861694" indent="-274320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Dataset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(real-</a:t>
            </a:r>
            <a:r>
              <a:rPr sz="1800" dirty="0">
                <a:latin typeface="Times New Roman"/>
                <a:cs typeface="Times New Roman"/>
              </a:rPr>
              <a:t>world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datasets,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synthetic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or </a:t>
            </a:r>
            <a:r>
              <a:rPr sz="1800" spc="-10" dirty="0">
                <a:latin typeface="Times New Roman"/>
                <a:cs typeface="Times New Roman"/>
              </a:rPr>
              <a:t>simulations).</a:t>
            </a:r>
            <a:endParaRPr sz="18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Programming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languages,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libraries,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environments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used.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80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buAutoNum type="arabicPeriod" startAt="4"/>
              <a:tabLst>
                <a:tab pos="264795" algn="l"/>
              </a:tabLst>
            </a:pPr>
            <a:r>
              <a:rPr sz="2000" b="1" dirty="0">
                <a:latin typeface="Times New Roman"/>
                <a:cs typeface="Times New Roman"/>
              </a:rPr>
              <a:t>Experimental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Implementation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14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Algorithm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development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(if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applicable).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515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Experimental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setup,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including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hardware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10" dirty="0">
                <a:latin typeface="Times New Roman"/>
                <a:cs typeface="Times New Roman"/>
              </a:rPr>
              <a:t> specifications.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515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Evaluation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metrics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(e.g.,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accuracy,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precision,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recall,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computational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efficiency).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51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spc="-10" dirty="0">
                <a:latin typeface="Times New Roman"/>
                <a:cs typeface="Times New Roman"/>
              </a:rPr>
              <a:t>Testing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strategies,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testing</a:t>
            </a:r>
            <a:r>
              <a:rPr sz="1800" dirty="0">
                <a:latin typeface="Constantia"/>
                <a:cs typeface="Constantia"/>
              </a:rPr>
              <a:t>,</a:t>
            </a:r>
            <a:r>
              <a:rPr sz="1800" spc="-4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stress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testing,</a:t>
            </a:r>
            <a:r>
              <a:rPr sz="1800" spc="-4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or</a:t>
            </a:r>
            <a:r>
              <a:rPr sz="1800" spc="-114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validation</a:t>
            </a:r>
            <a:r>
              <a:rPr sz="1800" spc="-5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techniques.</a:t>
            </a:r>
            <a:endParaRPr sz="18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026" y="519861"/>
            <a:ext cx="8089900" cy="41732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580"/>
              </a:spcBef>
              <a:buSzPct val="90000"/>
              <a:buFont typeface="Constantia"/>
              <a:buAutoNum type="arabicPeriod" startAt="5"/>
              <a:tabLst>
                <a:tab pos="233679" algn="l"/>
              </a:tabLst>
            </a:pP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applicable)</a:t>
            </a:r>
            <a:endParaRPr sz="2000">
              <a:latin typeface="Times New Roman"/>
              <a:cs typeface="Times New Roman"/>
            </a:endParaRPr>
          </a:p>
          <a:p>
            <a:pPr marL="286385" marR="189865" lvl="1" indent="-274320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learning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and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datasets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benchmark </a:t>
            </a:r>
            <a:r>
              <a:rPr sz="2000" dirty="0">
                <a:latin typeface="Times New Roman"/>
                <a:cs typeface="Times New Roman"/>
              </a:rPr>
              <a:t>datasets,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world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data).</a:t>
            </a:r>
            <a:endParaRPr sz="2000">
              <a:latin typeface="Times New Roman"/>
              <a:cs typeface="Times New Roman"/>
            </a:endParaRPr>
          </a:p>
          <a:p>
            <a:pPr marL="286385" marR="228600" lvl="1" indent="-27432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(HCI,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usability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testing),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methods.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0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buAutoNum type="arabicPeriod" startAt="6"/>
              <a:tabLst>
                <a:tab pos="26416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and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Preprocessing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cleaning,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normalization,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feature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engineering).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statistical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visualization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ML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models).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metrics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relevant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026" y="513765"/>
            <a:ext cx="7141209" cy="58864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605"/>
              </a:spcBef>
              <a:buSzPct val="90000"/>
              <a:buFont typeface="Constantia"/>
              <a:buAutoNum type="arabicPeriod" startAt="7"/>
              <a:tabLst>
                <a:tab pos="25209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Validation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Verification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5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Comparison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baseline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techniques.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Reproducibility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open-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datasets.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Error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limitations 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approach.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20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buAutoNum type="arabicPeriod" startAt="8"/>
              <a:tabLst>
                <a:tab pos="264160" algn="l"/>
              </a:tabLst>
            </a:pPr>
            <a:r>
              <a:rPr sz="2000" b="1" dirty="0">
                <a:latin typeface="Times New Roman"/>
                <a:cs typeface="Times New Roman"/>
              </a:rPr>
              <a:t>Ethical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Considerations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Privacy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concerns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(especially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sensitive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datasets).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Bias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fairness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AI/ML-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research.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Compliance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ethical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guidelines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science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research.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0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spcBef>
                <a:spcPts val="5"/>
              </a:spcBef>
              <a:buAutoNum type="arabicPeriod" startAt="9"/>
              <a:tabLst>
                <a:tab pos="264160" algn="l"/>
              </a:tabLst>
            </a:pPr>
            <a:r>
              <a:rPr sz="2000" b="1" dirty="0">
                <a:latin typeface="Times New Roman"/>
                <a:cs typeface="Times New Roman"/>
              </a:rPr>
              <a:t>Expected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Outcomes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Contributions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7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findings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expected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impact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field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science.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Potential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world applications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research.</a:t>
            </a:r>
            <a:endParaRPr sz="20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directions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improvements.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6730" y="494487"/>
            <a:ext cx="387286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Times New Roman"/>
                <a:cs typeface="Times New Roman"/>
              </a:rPr>
              <a:t>Research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Design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Purpose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679" y="924813"/>
            <a:ext cx="8721725" cy="4964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0"/>
              </a:spcBef>
              <a:tabLst>
                <a:tab pos="1222375" algn="l"/>
                <a:tab pos="1509395" algn="l"/>
                <a:tab pos="2847975" algn="l"/>
                <a:tab pos="4451985" algn="l"/>
                <a:tab pos="4857115" algn="l"/>
                <a:tab pos="5735320" algn="l"/>
                <a:tab pos="6204585" algn="l"/>
                <a:tab pos="6943090" algn="l"/>
                <a:tab pos="794893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Provides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5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Structured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Framework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Guides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entire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research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process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systematically.</a:t>
            </a:r>
            <a:endParaRPr sz="2000">
              <a:latin typeface="Times New Roman"/>
              <a:cs typeface="Times New Roman"/>
            </a:endParaRPr>
          </a:p>
          <a:p>
            <a:pPr marL="12700" marR="10160" indent="152400">
              <a:lnSpc>
                <a:spcPct val="100800"/>
              </a:lnSpc>
              <a:spcBef>
                <a:spcPts val="390"/>
              </a:spcBef>
              <a:tabLst>
                <a:tab pos="954405" algn="l"/>
              </a:tabLst>
            </a:pPr>
            <a:r>
              <a:rPr sz="2000" b="1" dirty="0">
                <a:latin typeface="Times New Roman"/>
                <a:cs typeface="Times New Roman"/>
              </a:rPr>
              <a:t>Ensures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Relevance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Aligns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objectives. </a:t>
            </a:r>
            <a:r>
              <a:rPr sz="2000" b="1" dirty="0">
                <a:latin typeface="Times New Roman"/>
                <a:cs typeface="Times New Roman"/>
              </a:rPr>
              <a:t>Minimizes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Bias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unbiased 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data. </a:t>
            </a:r>
            <a:r>
              <a:rPr sz="2000" b="1" dirty="0">
                <a:latin typeface="Times New Roman"/>
                <a:cs typeface="Times New Roman"/>
              </a:rPr>
              <a:t>Enhances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Validity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Reliability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credible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reproducible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results. </a:t>
            </a:r>
            <a:r>
              <a:rPr sz="2000" b="1" dirty="0">
                <a:latin typeface="Times New Roman"/>
                <a:cs typeface="Times New Roman"/>
              </a:rPr>
              <a:t>Facilitates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Efficient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Collection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Determines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gathering relevant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tabLst>
                <a:tab pos="1716405" algn="l"/>
                <a:tab pos="2759710" algn="l"/>
                <a:tab pos="7723505" algn="l"/>
              </a:tabLst>
            </a:pPr>
            <a:r>
              <a:rPr sz="2000" b="1" dirty="0">
                <a:latin typeface="Times New Roman"/>
                <a:cs typeface="Times New Roman"/>
              </a:rPr>
              <a:t>Defines</a:t>
            </a:r>
            <a:r>
              <a:rPr sz="2000" b="1" spc="42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Data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r>
              <a:rPr sz="2000" b="1" dirty="0">
                <a:latin typeface="Times New Roman"/>
                <a:cs typeface="Times New Roman"/>
              </a:rPr>
              <a:t>	Techniques</a:t>
            </a:r>
            <a:r>
              <a:rPr sz="2000" b="1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choosing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appropriate</a:t>
            </a:r>
            <a:r>
              <a:rPr sz="2000" dirty="0">
                <a:latin typeface="Times New Roman"/>
                <a:cs typeface="Times New Roman"/>
              </a:rPr>
              <a:t>	tools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analysis.</a:t>
            </a:r>
            <a:endParaRPr sz="2000">
              <a:latin typeface="Times New Roman"/>
              <a:cs typeface="Times New Roman"/>
            </a:endParaRPr>
          </a:p>
          <a:p>
            <a:pPr marL="12700" marR="8890" indent="12763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Optimizes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Resources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cost-</a:t>
            </a:r>
            <a:r>
              <a:rPr sz="2000" dirty="0">
                <a:latin typeface="Times New Roman"/>
                <a:cs typeface="Times New Roman"/>
              </a:rPr>
              <a:t>effective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time-</a:t>
            </a:r>
            <a:r>
              <a:rPr sz="2000" spc="-10" dirty="0">
                <a:latin typeface="Times New Roman"/>
                <a:cs typeface="Times New Roman"/>
              </a:rPr>
              <a:t>efficient. </a:t>
            </a:r>
            <a:r>
              <a:rPr sz="2000" b="1" dirty="0">
                <a:latin typeface="Times New Roman"/>
                <a:cs typeface="Times New Roman"/>
              </a:rPr>
              <a:t>Improves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Decision-</a:t>
            </a:r>
            <a:r>
              <a:rPr sz="2000" b="1" dirty="0">
                <a:latin typeface="Times New Roman"/>
                <a:cs typeface="Times New Roman"/>
              </a:rPr>
              <a:t>Making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informed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conclusions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systematic findings.</a:t>
            </a:r>
            <a:endParaRPr sz="20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Provides a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Basis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Hypothesis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Testing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verifying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assumptions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through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empirical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evidence.</a:t>
            </a:r>
            <a:endParaRPr sz="20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Ensures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Ethical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Practices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Promotes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integrity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adherence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ethical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guidelines.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9488" rIns="0" bIns="0" rtlCol="0">
            <a:spAutoFit/>
          </a:bodyPr>
          <a:lstStyle/>
          <a:p>
            <a:pPr marL="1310005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Times New Roman"/>
                <a:cs typeface="Times New Roman"/>
              </a:rPr>
              <a:t>Importance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well-structured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009" y="1748155"/>
            <a:ext cx="8249284" cy="3988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Ensures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Clarity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Objectives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defining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objectives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aligning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accordingly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(Kothari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Garg).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Provides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Systematic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Framework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research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execution,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coherence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consistency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(Ranjit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Kumar).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259715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Reduces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Bias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carefully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procedures,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spc="-25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planned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minimizes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bias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 errors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(Cooper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&amp; </a:t>
            </a:r>
            <a:r>
              <a:rPr sz="2000" spc="-10" dirty="0">
                <a:latin typeface="Times New Roman"/>
                <a:cs typeface="Times New Roman"/>
              </a:rPr>
              <a:t>Schindler).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47498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Enhances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Validity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Reliability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accurate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measurement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variables,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reliability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generalizability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George Thomas).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974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Efficient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Resources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/>
              <a:t>–</a:t>
            </a:r>
            <a:r>
              <a:rPr sz="2000" spc="-35" dirty="0"/>
              <a:t> </a:t>
            </a:r>
            <a:r>
              <a:rPr sz="2000" dirty="0"/>
              <a:t>Proper</a:t>
            </a:r>
            <a:r>
              <a:rPr sz="2000" spc="-80" dirty="0"/>
              <a:t> </a:t>
            </a:r>
            <a:r>
              <a:rPr sz="2000" dirty="0"/>
              <a:t>planning</a:t>
            </a:r>
            <a:r>
              <a:rPr sz="2000" spc="-15" dirty="0"/>
              <a:t> </a:t>
            </a:r>
            <a:r>
              <a:rPr sz="2000" dirty="0"/>
              <a:t>prevents</a:t>
            </a:r>
            <a:r>
              <a:rPr sz="2000" spc="-60" dirty="0"/>
              <a:t> </a:t>
            </a:r>
            <a:r>
              <a:rPr sz="2000" dirty="0"/>
              <a:t>wastage</a:t>
            </a:r>
            <a:r>
              <a:rPr sz="2000" spc="25" dirty="0"/>
              <a:t> </a:t>
            </a:r>
            <a:r>
              <a:rPr sz="2000" dirty="0"/>
              <a:t>of</a:t>
            </a:r>
            <a:r>
              <a:rPr sz="2000" spc="-65" dirty="0"/>
              <a:t> </a:t>
            </a:r>
            <a:r>
              <a:rPr sz="2000" dirty="0"/>
              <a:t>time,</a:t>
            </a:r>
            <a:r>
              <a:rPr sz="2000" spc="-15" dirty="0"/>
              <a:t> </a:t>
            </a:r>
            <a:r>
              <a:rPr sz="2000" spc="-10" dirty="0"/>
              <a:t>effort,</a:t>
            </a:r>
            <a:endParaRPr sz="20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</a:pPr>
            <a:r>
              <a:rPr sz="2000" dirty="0"/>
              <a:t>and</a:t>
            </a:r>
            <a:r>
              <a:rPr sz="2000" spc="-60" dirty="0"/>
              <a:t> </a:t>
            </a:r>
            <a:r>
              <a:rPr sz="2000" dirty="0"/>
              <a:t>financial</a:t>
            </a:r>
            <a:r>
              <a:rPr sz="2000" spc="-30" dirty="0"/>
              <a:t> </a:t>
            </a:r>
            <a:r>
              <a:rPr sz="2000" dirty="0"/>
              <a:t>resources,</a:t>
            </a:r>
            <a:r>
              <a:rPr sz="2000" spc="-85" dirty="0"/>
              <a:t> </a:t>
            </a:r>
            <a:r>
              <a:rPr sz="2000" dirty="0"/>
              <a:t>making</a:t>
            </a:r>
            <a:r>
              <a:rPr sz="2000" spc="5" dirty="0"/>
              <a:t> </a:t>
            </a:r>
            <a:r>
              <a:rPr sz="2000" dirty="0"/>
              <a:t>research</a:t>
            </a:r>
            <a:r>
              <a:rPr sz="2000" spc="-70" dirty="0"/>
              <a:t> </a:t>
            </a:r>
            <a:r>
              <a:rPr sz="2000" dirty="0"/>
              <a:t>more</a:t>
            </a:r>
            <a:r>
              <a:rPr sz="2000" spc="-65" dirty="0"/>
              <a:t> </a:t>
            </a:r>
            <a:r>
              <a:rPr sz="2000" dirty="0"/>
              <a:t>effective</a:t>
            </a:r>
            <a:r>
              <a:rPr sz="2000" spc="-20" dirty="0"/>
              <a:t> </a:t>
            </a:r>
            <a:r>
              <a:rPr sz="2000" dirty="0"/>
              <a:t>(Chawla &amp;</a:t>
            </a:r>
            <a:r>
              <a:rPr sz="2000" spc="-60" dirty="0"/>
              <a:t> </a:t>
            </a:r>
            <a:r>
              <a:rPr sz="2000" spc="-10" dirty="0"/>
              <a:t>Sondhi).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407009" y="1689607"/>
            <a:ext cx="8426450" cy="4293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Times New Roman"/>
                <a:cs typeface="Times New Roman"/>
              </a:rPr>
              <a:t>Facilitates</a:t>
            </a:r>
            <a:r>
              <a:rPr sz="2000" b="1" spc="-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Appropriate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Collection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selecting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methods </a:t>
            </a:r>
            <a:r>
              <a:rPr sz="2000" dirty="0">
                <a:latin typeface="Times New Roman"/>
                <a:cs typeface="Times New Roman"/>
              </a:rPr>
              <a:t>(surveys,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experiments,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observations)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relevant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(Kothari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Garg).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Strengthens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Data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Analysis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aids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suitable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analytical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interpretations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(Ranjit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Kumar).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Supports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Hypothesis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Testing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empirical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hypotheses, improving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scientific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(Cooper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Schindler).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30797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Ensures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Ethical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Compliance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ethical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guidelines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design </a:t>
            </a:r>
            <a:r>
              <a:rPr sz="2000" dirty="0">
                <a:latin typeface="Times New Roman"/>
                <a:cs typeface="Times New Roman"/>
              </a:rPr>
              <a:t>maintains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integrity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credibility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George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Thomas).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Improves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Decision-</a:t>
            </a:r>
            <a:r>
              <a:rPr sz="2000" b="1" dirty="0">
                <a:latin typeface="Times New Roman"/>
                <a:cs typeface="Times New Roman"/>
              </a:rPr>
              <a:t>Making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structured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informed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conclusions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actionable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insights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(Chawla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Sondhi).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957" y="1658823"/>
            <a:ext cx="40335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25" dirty="0">
                <a:latin typeface="Times New Roman"/>
                <a:cs typeface="Times New Roman"/>
              </a:rPr>
              <a:t>Types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Research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Designs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957" y="2086623"/>
            <a:ext cx="4202430" cy="206628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775"/>
              </a:spcBef>
              <a:buAutoNum type="arabicParenR"/>
              <a:tabLst>
                <a:tab pos="399415" algn="l"/>
              </a:tabLst>
            </a:pPr>
            <a:r>
              <a:rPr sz="2800" dirty="0">
                <a:latin typeface="Times New Roman"/>
                <a:cs typeface="Times New Roman"/>
              </a:rPr>
              <a:t>Exploratory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  <a:p>
            <a:pPr marL="398780" indent="-386080">
              <a:lnSpc>
                <a:spcPct val="100000"/>
              </a:lnSpc>
              <a:spcBef>
                <a:spcPts val="675"/>
              </a:spcBef>
              <a:buAutoNum type="arabicParenR"/>
              <a:tabLst>
                <a:tab pos="398780" algn="l"/>
              </a:tabLst>
            </a:pPr>
            <a:r>
              <a:rPr sz="2800" dirty="0">
                <a:latin typeface="Times New Roman"/>
                <a:cs typeface="Times New Roman"/>
              </a:rPr>
              <a:t>Descriptive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  <a:p>
            <a:pPr marL="398780" indent="-386080">
              <a:lnSpc>
                <a:spcPct val="100000"/>
              </a:lnSpc>
              <a:spcBef>
                <a:spcPts val="675"/>
              </a:spcBef>
              <a:buAutoNum type="arabicParenR"/>
              <a:tabLst>
                <a:tab pos="398780" algn="l"/>
              </a:tabLst>
            </a:pPr>
            <a:r>
              <a:rPr sz="2800" dirty="0">
                <a:latin typeface="Times New Roman"/>
                <a:cs typeface="Times New Roman"/>
              </a:rPr>
              <a:t>Experimental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spcBef>
                <a:spcPts val="600"/>
              </a:spcBef>
              <a:buAutoNum type="arabicParenR"/>
              <a:tabLst>
                <a:tab pos="399415" algn="l"/>
              </a:tabLst>
            </a:pPr>
            <a:r>
              <a:rPr sz="2800" dirty="0">
                <a:latin typeface="Times New Roman"/>
                <a:cs typeface="Times New Roman"/>
              </a:rPr>
              <a:t>Quasi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experimental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2214" y="476757"/>
            <a:ext cx="320611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Exploratory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150" y="1101979"/>
            <a:ext cx="8448675" cy="45377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159385">
              <a:lnSpc>
                <a:spcPct val="100000"/>
              </a:lnSpc>
              <a:spcBef>
                <a:spcPts val="110"/>
              </a:spcBef>
              <a:tabLst>
                <a:tab pos="3689985" algn="l"/>
              </a:tabLst>
            </a:pPr>
            <a:r>
              <a:rPr sz="2100" dirty="0">
                <a:latin typeface="Times New Roman"/>
                <a:cs typeface="Times New Roman"/>
              </a:rPr>
              <a:t>Exploratory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Research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studies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also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termed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formulative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research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studies.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main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purpose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formulating</a:t>
            </a:r>
            <a:r>
              <a:rPr sz="2100" dirty="0">
                <a:latin typeface="Times New Roman"/>
                <a:cs typeface="Times New Roman"/>
              </a:rPr>
              <a:t>	a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problem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more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precise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investigation </a:t>
            </a:r>
            <a:r>
              <a:rPr sz="2100" spc="-50" dirty="0">
                <a:latin typeface="Times New Roman"/>
                <a:cs typeface="Times New Roman"/>
              </a:rPr>
              <a:t>, </a:t>
            </a:r>
            <a:r>
              <a:rPr sz="2100" dirty="0">
                <a:latin typeface="Times New Roman"/>
                <a:cs typeface="Times New Roman"/>
              </a:rPr>
              <a:t>developing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working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hypothesis.</a:t>
            </a:r>
            <a:endParaRPr sz="21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146175" algn="l"/>
                <a:tab pos="6887845" algn="l"/>
              </a:tabLst>
            </a:pPr>
            <a:r>
              <a:rPr sz="2100" dirty="0">
                <a:latin typeface="Times New Roman"/>
                <a:cs typeface="Times New Roman"/>
              </a:rPr>
              <a:t>Exploratory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research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conducted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when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problem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clearly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defined,</a:t>
            </a:r>
            <a:r>
              <a:rPr sz="2100" spc="5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there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need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gather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preliminary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information.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helps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understanding concepts,</a:t>
            </a:r>
            <a:r>
              <a:rPr sz="2100" dirty="0">
                <a:latin typeface="Times New Roman"/>
                <a:cs typeface="Times New Roman"/>
              </a:rPr>
              <a:t>	generating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hypotheses,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identifying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new</a:t>
            </a:r>
            <a:r>
              <a:rPr sz="2100" spc="-9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research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Times New Roman"/>
                <a:cs typeface="Times New Roman"/>
              </a:rPr>
              <a:t>directions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1900" b="1" dirty="0">
                <a:latin typeface="Times New Roman"/>
                <a:cs typeface="Times New Roman"/>
              </a:rPr>
              <a:t>Methods</a:t>
            </a:r>
            <a:r>
              <a:rPr sz="1900" b="1" spc="-4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Used: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Literature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reviews(The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survey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concerning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literature)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Times New Roman"/>
                <a:cs typeface="Times New Roman"/>
              </a:rPr>
              <a:t>Experience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survey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Analysis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‘insight-stimulating’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 marR="165100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Exploratory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research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initial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step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in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research</a:t>
            </a:r>
            <a:r>
              <a:rPr sz="1900" b="1" spc="-7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methodology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particularly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in </a:t>
            </a:r>
            <a:r>
              <a:rPr sz="1900" dirty="0">
                <a:latin typeface="Times New Roman"/>
                <a:cs typeface="Times New Roman"/>
              </a:rPr>
              <a:t>qualitative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studies.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It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common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business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market research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identify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customer </a:t>
            </a:r>
            <a:r>
              <a:rPr sz="1900" dirty="0">
                <a:latin typeface="Times New Roman"/>
                <a:cs typeface="Times New Roman"/>
              </a:rPr>
              <a:t>preferences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market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trends.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957" y="200740"/>
            <a:ext cx="6294755" cy="84899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400" b="1" spc="-25" dirty="0">
                <a:latin typeface="Constantia"/>
                <a:cs typeface="Constantia"/>
              </a:rPr>
              <a:t>Ex:</a:t>
            </a:r>
            <a:endParaRPr sz="24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b="1" spc="-25" dirty="0">
                <a:latin typeface="Times New Roman"/>
                <a:cs typeface="Times New Roman"/>
              </a:rPr>
              <a:t>Topic: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How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People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Choose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Mobile</a:t>
            </a:r>
            <a:r>
              <a:rPr sz="2000" b="1" spc="-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Learning?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1957" y="1098930"/>
            <a:ext cx="83521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Objective: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400" spc="-20" dirty="0"/>
              <a:t>To</a:t>
            </a:r>
            <a:r>
              <a:rPr sz="2400" spc="-45" dirty="0"/>
              <a:t> </a:t>
            </a:r>
            <a:r>
              <a:rPr sz="2400" dirty="0"/>
              <a:t>explore</a:t>
            </a:r>
            <a:r>
              <a:rPr sz="2400" spc="-60" dirty="0"/>
              <a:t> </a:t>
            </a:r>
            <a:r>
              <a:rPr sz="2400" dirty="0"/>
              <a:t>the</a:t>
            </a:r>
            <a:r>
              <a:rPr sz="2400" spc="-45" dirty="0"/>
              <a:t> </a:t>
            </a:r>
            <a:r>
              <a:rPr sz="2400" dirty="0"/>
              <a:t>factors</a:t>
            </a:r>
            <a:r>
              <a:rPr sz="2400" spc="-35" dirty="0"/>
              <a:t> </a:t>
            </a:r>
            <a:r>
              <a:rPr sz="2400" dirty="0"/>
              <a:t>influencing</a:t>
            </a:r>
            <a:r>
              <a:rPr sz="2400" spc="-65" dirty="0"/>
              <a:t> </a:t>
            </a:r>
            <a:r>
              <a:rPr sz="2400" dirty="0"/>
              <a:t>people's</a:t>
            </a:r>
            <a:r>
              <a:rPr sz="2400" spc="-5" dirty="0"/>
              <a:t> </a:t>
            </a:r>
            <a:r>
              <a:rPr sz="2400" dirty="0"/>
              <a:t>decisions</a:t>
            </a:r>
            <a:r>
              <a:rPr sz="2400" spc="-50" dirty="0"/>
              <a:t> </a:t>
            </a:r>
            <a:r>
              <a:rPr sz="2400" spc="-20" dirty="0"/>
              <a:t>when </a:t>
            </a:r>
            <a:r>
              <a:rPr sz="2400" dirty="0"/>
              <a:t>selecting</a:t>
            </a:r>
            <a:r>
              <a:rPr sz="2400" spc="-45" dirty="0"/>
              <a:t> </a:t>
            </a:r>
            <a:r>
              <a:rPr sz="2400" dirty="0"/>
              <a:t>educational</a:t>
            </a:r>
            <a:r>
              <a:rPr sz="2400" spc="-35" dirty="0"/>
              <a:t> </a:t>
            </a:r>
            <a:r>
              <a:rPr sz="2400" spc="-10" dirty="0"/>
              <a:t>apps.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957" y="1829864"/>
            <a:ext cx="8369934" cy="380619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Method:</a:t>
            </a:r>
            <a:endParaRPr sz="20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Segoe UI Symbol"/>
              <a:buChar char="⚫"/>
              <a:tabLst>
                <a:tab pos="652780" algn="l"/>
              </a:tabLst>
            </a:pPr>
            <a:r>
              <a:rPr sz="2000" dirty="0">
                <a:latin typeface="Times New Roman"/>
                <a:cs typeface="Times New Roman"/>
              </a:rPr>
              <a:t>Conduct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informal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interviews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professionals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their</a:t>
            </a:r>
            <a:endParaRPr sz="200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preferred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learning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apps.</a:t>
            </a:r>
            <a:endParaRPr sz="20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Segoe UI Symbol"/>
              <a:buChar char="⚫"/>
              <a:tabLst>
                <a:tab pos="652780" algn="l"/>
              </a:tabLst>
            </a:pPr>
            <a:r>
              <a:rPr sz="2000" dirty="0">
                <a:latin typeface="Times New Roman"/>
                <a:cs typeface="Times New Roman"/>
              </a:rPr>
              <a:t>Observe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 behavior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analyzing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store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reviews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common</a:t>
            </a:r>
            <a:endParaRPr sz="200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themes.</a:t>
            </a:r>
            <a:endParaRPr sz="20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Segoe UI Symbol"/>
              <a:buChar char="⚫"/>
              <a:tabLst>
                <a:tab pos="652780" algn="l"/>
              </a:tabLst>
            </a:pPr>
            <a:r>
              <a:rPr sz="2000" dirty="0">
                <a:latin typeface="Times New Roman"/>
                <a:cs typeface="Times New Roman"/>
              </a:rPr>
              <a:t>Conduct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small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survey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asking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participants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find</a:t>
            </a:r>
            <a:endParaRPr sz="200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educational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app.</a:t>
            </a:r>
            <a:endParaRPr sz="20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b="1" dirty="0">
                <a:latin typeface="Times New Roman"/>
                <a:cs typeface="Times New Roman"/>
              </a:rPr>
              <a:t>Why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Exploratory?</a:t>
            </a:r>
            <a:endParaRPr sz="20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80"/>
              </a:spcBef>
              <a:buClr>
                <a:srgbClr val="0E6EC5"/>
              </a:buClr>
              <a:buSzPct val="85000"/>
              <a:buFont typeface="Segoe UI Symbol"/>
              <a:buChar char="⚫"/>
              <a:tabLst>
                <a:tab pos="65278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hypothesis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gathers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insights.</a:t>
            </a:r>
            <a:endParaRPr sz="2000">
              <a:latin typeface="Times New Roman"/>
              <a:cs typeface="Times New Roman"/>
            </a:endParaRPr>
          </a:p>
          <a:p>
            <a:pPr marL="652780" marR="576580" lvl="1" indent="-247650">
              <a:lnSpc>
                <a:spcPct val="100000"/>
              </a:lnSpc>
              <a:spcBef>
                <a:spcPts val="484"/>
              </a:spcBef>
              <a:buClr>
                <a:srgbClr val="0E6EC5"/>
              </a:buClr>
              <a:buSzPct val="85000"/>
              <a:buFont typeface="Segoe UI Symbol"/>
              <a:buChar char="⚫"/>
              <a:tabLst>
                <a:tab pos="65278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trends,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preferences,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deeper research.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1958" y="723341"/>
            <a:ext cx="1216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onstantia"/>
                <a:cs typeface="Constantia"/>
              </a:rPr>
              <a:t>Variable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957" y="1924050"/>
            <a:ext cx="7268845" cy="1851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90"/>
              </a:spcBef>
            </a:pPr>
            <a:r>
              <a:rPr sz="2000" spc="-25" dirty="0">
                <a:latin typeface="Times New Roman"/>
                <a:cs typeface="Times New Roman"/>
              </a:rPr>
              <a:t>Variables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characteristics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attributes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across </a:t>
            </a:r>
            <a:r>
              <a:rPr sz="2000" dirty="0">
                <a:latin typeface="Times New Roman"/>
                <a:cs typeface="Times New Roman"/>
              </a:rPr>
              <a:t>individuals,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  <a:spcBef>
                <a:spcPts val="5"/>
              </a:spcBef>
            </a:pPr>
            <a:r>
              <a:rPr sz="2000" spc="-25" dirty="0">
                <a:latin typeface="Times New Roman"/>
                <a:cs typeface="Times New Roman"/>
              </a:rPr>
              <a:t>Ex.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</a:pPr>
            <a:r>
              <a:rPr sz="2000" b="1" spc="-10" dirty="0">
                <a:latin typeface="Constantia"/>
                <a:cs typeface="Constantia"/>
              </a:rPr>
              <a:t>Independent</a:t>
            </a:r>
            <a:r>
              <a:rPr sz="2000" b="1" spc="-105" dirty="0">
                <a:latin typeface="Constantia"/>
                <a:cs typeface="Constantia"/>
              </a:rPr>
              <a:t> </a:t>
            </a:r>
            <a:r>
              <a:rPr sz="2000" b="1" spc="-25" dirty="0">
                <a:latin typeface="Constantia"/>
                <a:cs typeface="Constantia"/>
              </a:rPr>
              <a:t>Variable</a:t>
            </a:r>
            <a:r>
              <a:rPr sz="2000" b="1" spc="-60" dirty="0">
                <a:latin typeface="Constantia"/>
                <a:cs typeface="Constantia"/>
              </a:rPr>
              <a:t> </a:t>
            </a:r>
            <a:r>
              <a:rPr sz="2000" b="1" dirty="0">
                <a:latin typeface="Constantia"/>
                <a:cs typeface="Constantia"/>
              </a:rPr>
              <a:t>(IV):</a:t>
            </a:r>
            <a:r>
              <a:rPr sz="2000" b="1" spc="5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Study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Time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(in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hours)</a:t>
            </a:r>
            <a:endParaRPr sz="20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000" b="1" spc="-10" dirty="0">
                <a:latin typeface="Constantia"/>
                <a:cs typeface="Constantia"/>
              </a:rPr>
              <a:t>Dependent</a:t>
            </a:r>
            <a:r>
              <a:rPr sz="2000" b="1" spc="-110" dirty="0">
                <a:latin typeface="Constantia"/>
                <a:cs typeface="Constantia"/>
              </a:rPr>
              <a:t> </a:t>
            </a:r>
            <a:r>
              <a:rPr sz="2000" b="1" spc="-25" dirty="0">
                <a:latin typeface="Constantia"/>
                <a:cs typeface="Constantia"/>
              </a:rPr>
              <a:t>Variable</a:t>
            </a:r>
            <a:r>
              <a:rPr sz="2000" b="1" spc="-95" dirty="0">
                <a:latin typeface="Constantia"/>
                <a:cs typeface="Constantia"/>
              </a:rPr>
              <a:t> </a:t>
            </a:r>
            <a:r>
              <a:rPr sz="2000" b="1" dirty="0">
                <a:latin typeface="Constantia"/>
                <a:cs typeface="Constantia"/>
              </a:rPr>
              <a:t>(DV):</a:t>
            </a:r>
            <a:r>
              <a:rPr sz="2000" b="1" spc="-5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Exam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Score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(out</a:t>
            </a:r>
            <a:r>
              <a:rPr sz="2000" spc="-12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of</a:t>
            </a:r>
            <a:r>
              <a:rPr sz="2000" spc="-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100)</a:t>
            </a:r>
            <a:endParaRPr sz="20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0882" y="232359"/>
            <a:ext cx="31057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Descriptive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670" y="781253"/>
            <a:ext cx="8620125" cy="5520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Definition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Purpose:</a:t>
            </a:r>
            <a:endParaRPr sz="2000">
              <a:latin typeface="Times New Roman"/>
              <a:cs typeface="Times New Roman"/>
            </a:endParaRPr>
          </a:p>
          <a:p>
            <a:pPr marL="12700" marR="96520">
              <a:lnSpc>
                <a:spcPct val="100000"/>
              </a:lnSpc>
              <a:tabLst>
                <a:tab pos="5015865" algn="l"/>
                <a:tab pos="6311900" algn="l"/>
                <a:tab pos="7052309" algn="l"/>
              </a:tabLst>
            </a:pPr>
            <a:r>
              <a:rPr sz="2000" dirty="0">
                <a:latin typeface="Times New Roman"/>
                <a:cs typeface="Times New Roman"/>
              </a:rPr>
              <a:t>Descriptive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aims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systematically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describe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phenomenon,</a:t>
            </a:r>
            <a:r>
              <a:rPr sz="2000" dirty="0">
                <a:latin typeface="Times New Roman"/>
                <a:cs typeface="Times New Roman"/>
              </a:rPr>
              <a:t>	individual,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manipulating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variables.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answers 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"what,"</a:t>
            </a:r>
            <a:r>
              <a:rPr sz="2000" dirty="0">
                <a:latin typeface="Times New Roman"/>
                <a:cs typeface="Times New Roman"/>
              </a:rPr>
              <a:t>	"when,"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"where,"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"how"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aspects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establish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causation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12700" marR="6621145">
              <a:lnSpc>
                <a:spcPct val="100000"/>
              </a:lnSpc>
              <a:spcBef>
                <a:spcPts val="1930"/>
              </a:spcBef>
            </a:pP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Used </a:t>
            </a:r>
            <a:r>
              <a:rPr sz="1800" spc="-10" dirty="0">
                <a:latin typeface="Times New Roman"/>
                <a:cs typeface="Times New Roman"/>
              </a:rPr>
              <a:t>Surveys </a:t>
            </a:r>
            <a:r>
              <a:rPr sz="1800" dirty="0">
                <a:latin typeface="Times New Roman"/>
                <a:cs typeface="Times New Roman"/>
              </a:rPr>
              <a:t>Observational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studies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Cross-</a:t>
            </a:r>
            <a:r>
              <a:rPr sz="1800" dirty="0">
                <a:latin typeface="Times New Roman"/>
                <a:cs typeface="Times New Roman"/>
              </a:rPr>
              <a:t>sectional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studies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92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Descriptive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often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social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sciences,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business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public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health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studies.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080" indent="274320">
              <a:lnSpc>
                <a:spcPct val="100000"/>
              </a:lnSpc>
              <a:buClr>
                <a:srgbClr val="0AD0D9"/>
              </a:buClr>
              <a:buSzPct val="94444"/>
              <a:buFont typeface="Segoe UI Symbol"/>
              <a:buChar char="⚫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Descriptive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focuses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gathering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factual,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accurate,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systematic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data,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-25" dirty="0">
                <a:latin typeface="Times New Roman"/>
                <a:cs typeface="Times New Roman"/>
              </a:rPr>
              <a:t> it </a:t>
            </a:r>
            <a:r>
              <a:rPr sz="1800" dirty="0">
                <a:latin typeface="Times New Roman"/>
                <a:cs typeface="Times New Roman"/>
              </a:rPr>
              <a:t>essential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understanding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population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characteristics.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0AD0D9"/>
              </a:buClr>
              <a:buFont typeface="Segoe UI Symbol"/>
              <a:buChar char="⚫"/>
            </a:pP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extensively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business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analyze customer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behavior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market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trends.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Clr>
                <a:srgbClr val="0AD0D9"/>
              </a:buClr>
              <a:buFont typeface="Segoe UI Symbol"/>
              <a:buChar char="⚫"/>
            </a:pPr>
            <a:endParaRPr sz="1800">
              <a:latin typeface="Times New Roman"/>
              <a:cs typeface="Times New Roman"/>
            </a:endParaRPr>
          </a:p>
          <a:p>
            <a:pPr marL="287020" marR="95885" indent="-274955">
              <a:lnSpc>
                <a:spcPts val="1730"/>
              </a:lnSpc>
              <a:buClr>
                <a:srgbClr val="0AD0D9"/>
              </a:buClr>
              <a:buSzPct val="94444"/>
              <a:buFont typeface="Segoe UI Symbol"/>
              <a:buChar char="⚫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economic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studies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company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employee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satisfaction, </a:t>
            </a:r>
            <a:r>
              <a:rPr sz="1800" dirty="0">
                <a:latin typeface="Times New Roman"/>
                <a:cs typeface="Times New Roman"/>
              </a:rPr>
              <a:t>and industry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patterns.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70" y="762965"/>
            <a:ext cx="52095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Topic: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Study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Habits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 College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Students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670" y="1196467"/>
            <a:ext cx="8598535" cy="4521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3181"/>
              <a:buFont typeface="Segoe UI Symbol"/>
              <a:buChar char="⚫"/>
              <a:tabLst>
                <a:tab pos="287020" algn="l"/>
              </a:tabLst>
            </a:pPr>
            <a:r>
              <a:rPr sz="2200" b="1" dirty="0">
                <a:latin typeface="Times New Roman"/>
                <a:cs typeface="Times New Roman"/>
              </a:rPr>
              <a:t>Objective:</a:t>
            </a:r>
            <a:r>
              <a:rPr sz="2200" b="1" spc="-10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describe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habits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college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study</a:t>
            </a:r>
            <a:endParaRPr sz="22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duration,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preferred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tools.</a:t>
            </a:r>
            <a:endParaRPr sz="22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Clr>
                <a:srgbClr val="0AD0D9"/>
              </a:buClr>
              <a:buSzPct val="93181"/>
              <a:buFont typeface="Segoe UI Symbol"/>
              <a:buChar char="⚫"/>
              <a:tabLst>
                <a:tab pos="28702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Method:</a:t>
            </a:r>
            <a:endParaRPr sz="2200">
              <a:latin typeface="Times New Roman"/>
              <a:cs typeface="Times New Roman"/>
            </a:endParaRPr>
          </a:p>
          <a:p>
            <a:pPr marL="653415" lvl="1" indent="-247650">
              <a:lnSpc>
                <a:spcPct val="100000"/>
              </a:lnSpc>
              <a:spcBef>
                <a:spcPts val="530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653415" algn="l"/>
              </a:tabLst>
            </a:pPr>
            <a:r>
              <a:rPr sz="2200" dirty="0">
                <a:latin typeface="Times New Roman"/>
                <a:cs typeface="Times New Roman"/>
              </a:rPr>
              <a:t>Conduct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 survey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asking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hours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daily,</a:t>
            </a:r>
            <a:endParaRPr sz="220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study,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use.</a:t>
            </a:r>
            <a:endParaRPr sz="2200">
              <a:latin typeface="Times New Roman"/>
              <a:cs typeface="Times New Roman"/>
            </a:endParaRPr>
          </a:p>
          <a:p>
            <a:pPr marL="653415" lvl="1" indent="-247650">
              <a:lnSpc>
                <a:spcPct val="100000"/>
              </a:lnSpc>
              <a:spcBef>
                <a:spcPts val="535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653415" algn="l"/>
              </a:tabLst>
            </a:pPr>
            <a:r>
              <a:rPr sz="2200" dirty="0">
                <a:latin typeface="Times New Roman"/>
                <a:cs typeface="Times New Roman"/>
              </a:rPr>
              <a:t>Observe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behaviors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group</a:t>
            </a:r>
            <a:endParaRPr sz="220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vs.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study,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laptops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vs.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books,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653415" lvl="1" indent="-247650">
              <a:lnSpc>
                <a:spcPct val="100000"/>
              </a:lnSpc>
              <a:spcBef>
                <a:spcPts val="525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653415" algn="l"/>
              </a:tabLst>
            </a:pPr>
            <a:r>
              <a:rPr sz="2200" dirty="0">
                <a:latin typeface="Times New Roman"/>
                <a:cs typeface="Times New Roman"/>
              </a:rPr>
              <a:t>Analyze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existing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(e.g.,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library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check-</a:t>
            </a:r>
            <a:r>
              <a:rPr sz="2200" dirty="0">
                <a:latin typeface="Times New Roman"/>
                <a:cs typeface="Times New Roman"/>
              </a:rPr>
              <a:t>out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records,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usage</a:t>
            </a:r>
            <a:endParaRPr sz="220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statistics)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trends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habits.</a:t>
            </a:r>
            <a:endParaRPr sz="22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35"/>
              </a:spcBef>
              <a:buClr>
                <a:srgbClr val="0AD0D9"/>
              </a:buClr>
              <a:buSzPct val="93181"/>
              <a:buFont typeface="Segoe UI Symbol"/>
              <a:buChar char="⚫"/>
              <a:tabLst>
                <a:tab pos="287020" algn="l"/>
              </a:tabLst>
            </a:pPr>
            <a:r>
              <a:rPr sz="2200" dirty="0">
                <a:latin typeface="Times New Roman"/>
                <a:cs typeface="Times New Roman"/>
              </a:rPr>
              <a:t>Why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Descriptive?</a:t>
            </a:r>
            <a:endParaRPr sz="2200">
              <a:latin typeface="Times New Roman"/>
              <a:cs typeface="Times New Roman"/>
            </a:endParaRPr>
          </a:p>
          <a:p>
            <a:pPr marL="653415" lvl="1" indent="-247650">
              <a:lnSpc>
                <a:spcPct val="100000"/>
              </a:lnSpc>
              <a:spcBef>
                <a:spcPts val="530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65341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describes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behaviors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manipulating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variables.</a:t>
            </a:r>
            <a:endParaRPr sz="2200">
              <a:latin typeface="Times New Roman"/>
              <a:cs typeface="Times New Roman"/>
            </a:endParaRPr>
          </a:p>
          <a:p>
            <a:pPr marL="653415" lvl="1" indent="-247650">
              <a:lnSpc>
                <a:spcPct val="100000"/>
              </a:lnSpc>
              <a:spcBef>
                <a:spcPts val="525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65341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focus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what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happening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rather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why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0" dirty="0">
                <a:latin typeface="Times New Roman"/>
                <a:cs typeface="Times New Roman"/>
              </a:rPr>
              <a:t> happens.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807" y="232359"/>
            <a:ext cx="33591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Experimental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957" y="537717"/>
            <a:ext cx="8350250" cy="554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Definition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&amp;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Purpose</a:t>
            </a:r>
            <a:r>
              <a:rPr sz="1800" spc="-1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Experimental research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rigorous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establish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cause and-</a:t>
            </a:r>
            <a:r>
              <a:rPr sz="1800" dirty="0">
                <a:latin typeface="Times New Roman"/>
                <a:cs typeface="Times New Roman"/>
              </a:rPr>
              <a:t>effect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relationships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manipulating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independent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observing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changes</a:t>
            </a:r>
            <a:r>
              <a:rPr sz="1800" spc="-25" dirty="0">
                <a:latin typeface="Times New Roman"/>
                <a:cs typeface="Times New Roman"/>
              </a:rPr>
              <a:t> in </a:t>
            </a:r>
            <a:r>
              <a:rPr sz="1800" dirty="0">
                <a:latin typeface="Times New Roman"/>
                <a:cs typeface="Times New Roman"/>
              </a:rPr>
              <a:t>dependent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variables.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involves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randomization,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groups,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controlled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settings.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Methods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Used: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Laboratory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experiments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Field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experiments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Randomized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Controlled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Trials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(RCTs)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Experimental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highest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accuracy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reliability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scientific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studies.</a:t>
            </a:r>
            <a:endParaRPr sz="1800">
              <a:latin typeface="Times New Roman"/>
              <a:cs typeface="Times New Roman"/>
            </a:endParaRPr>
          </a:p>
          <a:p>
            <a:pPr marL="12700" marR="4064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suitable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hypothesis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natural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social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sciences.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business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consumer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behavior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companies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test </a:t>
            </a:r>
            <a:r>
              <a:rPr sz="1800" dirty="0">
                <a:latin typeface="Times New Roman"/>
                <a:cs typeface="Times New Roman"/>
              </a:rPr>
              <a:t>new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products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marketing </a:t>
            </a:r>
            <a:r>
              <a:rPr sz="1800" spc="-10" dirty="0">
                <a:latin typeface="Times New Roman"/>
                <a:cs typeface="Times New Roman"/>
              </a:rPr>
              <a:t>strategies.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engineering,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medicine,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psychology,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tightly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controlled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ensure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valid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results.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55"/>
              </a:lnSpc>
            </a:pP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economic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management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controlled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experiments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</a:pPr>
            <a:r>
              <a:rPr sz="1800" dirty="0">
                <a:latin typeface="Times New Roman"/>
                <a:cs typeface="Times New Roman"/>
              </a:rPr>
              <a:t>help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assess policy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impacts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957" y="241847"/>
            <a:ext cx="7983855" cy="562483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700" b="1" spc="-10" dirty="0">
                <a:latin typeface="Times New Roman"/>
                <a:cs typeface="Times New Roman"/>
              </a:rPr>
              <a:t>Example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700" b="1" spc="-25" dirty="0">
                <a:latin typeface="Times New Roman"/>
                <a:cs typeface="Times New Roman"/>
              </a:rPr>
              <a:t>Topic:</a:t>
            </a:r>
            <a:r>
              <a:rPr sz="1700" b="1" spc="-4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Does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Music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Improve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Study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Performance?</a:t>
            </a:r>
            <a:endParaRPr sz="17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409"/>
              </a:spcBef>
              <a:buClr>
                <a:srgbClr val="0AD0D9"/>
              </a:buClr>
              <a:buSzPct val="94117"/>
              <a:buFont typeface="Segoe UI Symbol"/>
              <a:buChar char="⚫"/>
              <a:tabLst>
                <a:tab pos="286385" algn="l"/>
              </a:tabLst>
            </a:pPr>
            <a:r>
              <a:rPr sz="1700" b="1" dirty="0">
                <a:latin typeface="Times New Roman"/>
                <a:cs typeface="Times New Roman"/>
              </a:rPr>
              <a:t>Objective:</a:t>
            </a:r>
            <a:r>
              <a:rPr sz="1700" b="1" spc="-110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Times New Roman"/>
                <a:cs typeface="Times New Roman"/>
              </a:rPr>
              <a:t>To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determine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listening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music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while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studying improves test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performance.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Clr>
                <a:srgbClr val="0AD0D9"/>
              </a:buClr>
              <a:buFont typeface="Segoe UI Symbol"/>
              <a:buChar char="⚫"/>
            </a:pPr>
            <a:endParaRPr sz="17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117"/>
              <a:buFont typeface="Segoe UI Symbol"/>
              <a:buChar char="⚫"/>
              <a:tabLst>
                <a:tab pos="286385" algn="l"/>
              </a:tabLst>
            </a:pPr>
            <a:r>
              <a:rPr sz="1700" b="1" spc="-10" dirty="0">
                <a:latin typeface="Times New Roman"/>
                <a:cs typeface="Times New Roman"/>
              </a:rPr>
              <a:t>Method:</a:t>
            </a:r>
            <a:endParaRPr sz="17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09"/>
              </a:spcBef>
              <a:buClr>
                <a:srgbClr val="0E6EC5"/>
              </a:buClr>
              <a:buSzPct val="85294"/>
              <a:buFont typeface="Segoe UI Symbol"/>
              <a:buChar char="⚫"/>
              <a:tabLst>
                <a:tab pos="652780" algn="l"/>
              </a:tabLst>
            </a:pPr>
            <a:r>
              <a:rPr sz="1700" b="1" dirty="0">
                <a:latin typeface="Times New Roman"/>
                <a:cs typeface="Times New Roman"/>
              </a:rPr>
              <a:t>Participants:</a:t>
            </a:r>
            <a:r>
              <a:rPr sz="1700" b="1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Select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groups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students.</a:t>
            </a:r>
            <a:endParaRPr sz="17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09"/>
              </a:spcBef>
              <a:buClr>
                <a:srgbClr val="0E6EC5"/>
              </a:buClr>
              <a:buSzPct val="85294"/>
              <a:buFont typeface="Segoe UI Symbol"/>
              <a:buChar char="⚫"/>
              <a:tabLst>
                <a:tab pos="652780" algn="l"/>
              </a:tabLst>
            </a:pPr>
            <a:r>
              <a:rPr sz="1700" b="1" spc="-10" dirty="0">
                <a:latin typeface="Times New Roman"/>
                <a:cs typeface="Times New Roman"/>
              </a:rPr>
              <a:t>Independent</a:t>
            </a:r>
            <a:r>
              <a:rPr sz="1700" b="1" spc="-45" dirty="0">
                <a:latin typeface="Times New Roman"/>
                <a:cs typeface="Times New Roman"/>
              </a:rPr>
              <a:t> </a:t>
            </a:r>
            <a:r>
              <a:rPr sz="1700" b="1" spc="-20" dirty="0">
                <a:latin typeface="Times New Roman"/>
                <a:cs typeface="Times New Roman"/>
              </a:rPr>
              <a:t>Variable:</a:t>
            </a:r>
            <a:r>
              <a:rPr sz="1700" b="1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Background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music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while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studying.</a:t>
            </a:r>
            <a:endParaRPr sz="17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09"/>
              </a:spcBef>
              <a:buClr>
                <a:srgbClr val="0E6EC5"/>
              </a:buClr>
              <a:buSzPct val="85294"/>
              <a:buFont typeface="Segoe UI Symbol"/>
              <a:buChar char="⚫"/>
              <a:tabLst>
                <a:tab pos="652780" algn="l"/>
              </a:tabLst>
            </a:pPr>
            <a:r>
              <a:rPr sz="1700" b="1" spc="-10" dirty="0">
                <a:latin typeface="Times New Roman"/>
                <a:cs typeface="Times New Roman"/>
              </a:rPr>
              <a:t>Dependent</a:t>
            </a:r>
            <a:r>
              <a:rPr sz="1700" b="1" spc="-70" dirty="0">
                <a:latin typeface="Times New Roman"/>
                <a:cs typeface="Times New Roman"/>
              </a:rPr>
              <a:t> </a:t>
            </a:r>
            <a:r>
              <a:rPr sz="1700" b="1" spc="-20" dirty="0">
                <a:latin typeface="Times New Roman"/>
                <a:cs typeface="Times New Roman"/>
              </a:rPr>
              <a:t>Variable: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Test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scores.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05"/>
              </a:spcBef>
              <a:buClr>
                <a:srgbClr val="0E6EC5"/>
              </a:buClr>
              <a:buFont typeface="Segoe UI Symbol"/>
              <a:buChar char="⚫"/>
            </a:pPr>
            <a:endParaRPr sz="17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buClr>
                <a:srgbClr val="0E6EC5"/>
              </a:buClr>
              <a:buSzPct val="85294"/>
              <a:buFont typeface="Segoe UI Symbol"/>
              <a:buChar char="⚫"/>
              <a:tabLst>
                <a:tab pos="652780" algn="l"/>
              </a:tabLst>
            </a:pPr>
            <a:r>
              <a:rPr sz="1700" b="1" spc="-10" dirty="0">
                <a:latin typeface="Times New Roman"/>
                <a:cs typeface="Times New Roman"/>
              </a:rPr>
              <a:t>Procedure:</a:t>
            </a:r>
            <a:endParaRPr sz="1700">
              <a:latin typeface="Times New Roman"/>
              <a:cs typeface="Times New Roman"/>
            </a:endParaRPr>
          </a:p>
          <a:p>
            <a:pPr marL="927100" lvl="2" indent="-247015">
              <a:lnSpc>
                <a:spcPct val="100000"/>
              </a:lnSpc>
              <a:spcBef>
                <a:spcPts val="409"/>
              </a:spcBef>
              <a:buClr>
                <a:srgbClr val="009DD9"/>
              </a:buClr>
              <a:buSzPct val="70588"/>
              <a:buFont typeface="Segoe UI Symbol"/>
              <a:buChar char="⚫"/>
              <a:tabLst>
                <a:tab pos="927100" algn="l"/>
              </a:tabLst>
            </a:pPr>
            <a:r>
              <a:rPr sz="1700" b="1" spc="-20" dirty="0">
                <a:latin typeface="Times New Roman"/>
                <a:cs typeface="Times New Roman"/>
              </a:rPr>
              <a:t>Group</a:t>
            </a:r>
            <a:r>
              <a:rPr sz="1700" b="1" spc="-9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-12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(Experimental</a:t>
            </a:r>
            <a:r>
              <a:rPr sz="1700" b="1" spc="-10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Group):</a:t>
            </a:r>
            <a:r>
              <a:rPr sz="1700" b="1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Studies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while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listening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instrumental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music.</a:t>
            </a:r>
            <a:endParaRPr sz="1700">
              <a:latin typeface="Times New Roman"/>
              <a:cs typeface="Times New Roman"/>
            </a:endParaRPr>
          </a:p>
          <a:p>
            <a:pPr marL="927100" lvl="2" indent="-247015">
              <a:lnSpc>
                <a:spcPct val="100000"/>
              </a:lnSpc>
              <a:spcBef>
                <a:spcPts val="409"/>
              </a:spcBef>
              <a:buClr>
                <a:srgbClr val="009DD9"/>
              </a:buClr>
              <a:buSzPct val="70588"/>
              <a:buFont typeface="Segoe UI Symbol"/>
              <a:buChar char="⚫"/>
              <a:tabLst>
                <a:tab pos="927100" algn="l"/>
              </a:tabLst>
            </a:pPr>
            <a:r>
              <a:rPr sz="1700" b="1" dirty="0">
                <a:latin typeface="Times New Roman"/>
                <a:cs typeface="Times New Roman"/>
              </a:rPr>
              <a:t>Group</a:t>
            </a:r>
            <a:r>
              <a:rPr sz="1700" b="1" spc="-5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(Control</a:t>
            </a:r>
            <a:r>
              <a:rPr sz="1700" b="1" spc="-7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Group):</a:t>
            </a:r>
            <a:r>
              <a:rPr sz="1700" b="1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Studies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complete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silence.</a:t>
            </a:r>
            <a:endParaRPr sz="1700">
              <a:latin typeface="Times New Roman"/>
              <a:cs typeface="Times New Roman"/>
            </a:endParaRPr>
          </a:p>
          <a:p>
            <a:pPr marL="927100" lvl="2" indent="-247015">
              <a:lnSpc>
                <a:spcPct val="100000"/>
              </a:lnSpc>
              <a:spcBef>
                <a:spcPts val="405"/>
              </a:spcBef>
              <a:buClr>
                <a:srgbClr val="009DD9"/>
              </a:buClr>
              <a:buSzPct val="70588"/>
              <a:buFont typeface="Segoe UI Symbol"/>
              <a:buChar char="⚫"/>
              <a:tabLst>
                <a:tab pos="927100" algn="l"/>
              </a:tabLst>
            </a:pPr>
            <a:r>
              <a:rPr sz="1700" dirty="0">
                <a:latin typeface="Times New Roman"/>
                <a:cs typeface="Times New Roman"/>
              </a:rPr>
              <a:t>Both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groups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take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same</a:t>
            </a:r>
            <a:r>
              <a:rPr sz="1700" b="1" spc="-4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test</a:t>
            </a:r>
            <a:r>
              <a:rPr sz="1700" b="1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after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study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session.</a:t>
            </a:r>
            <a:endParaRPr sz="17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09"/>
              </a:spcBef>
              <a:buClr>
                <a:srgbClr val="0E6EC5"/>
              </a:buClr>
              <a:buSzPct val="85294"/>
              <a:buFont typeface="Segoe UI Symbol"/>
              <a:buChar char="⚫"/>
              <a:tabLst>
                <a:tab pos="652780" algn="l"/>
              </a:tabLst>
            </a:pPr>
            <a:r>
              <a:rPr sz="1700" b="1" dirty="0">
                <a:latin typeface="Times New Roman"/>
                <a:cs typeface="Times New Roman"/>
              </a:rPr>
              <a:t>Analysis: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Compare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average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test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scores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both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groups.</a:t>
            </a:r>
            <a:endParaRPr sz="17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409"/>
              </a:spcBef>
              <a:buClr>
                <a:srgbClr val="0AD0D9"/>
              </a:buClr>
              <a:buSzPct val="94117"/>
              <a:buFont typeface="Segoe UI Symbol"/>
              <a:buChar char="⚫"/>
              <a:tabLst>
                <a:tab pos="286385" algn="l"/>
              </a:tabLst>
            </a:pPr>
            <a:r>
              <a:rPr sz="1700" b="1" dirty="0">
                <a:latin typeface="Times New Roman"/>
                <a:cs typeface="Times New Roman"/>
              </a:rPr>
              <a:t>Why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Experimental?</a:t>
            </a:r>
            <a:endParaRPr sz="17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09"/>
              </a:spcBef>
              <a:buClr>
                <a:srgbClr val="0E6EC5"/>
              </a:buClr>
              <a:buSzPct val="85294"/>
              <a:buFont typeface="Segoe UI Symbol"/>
              <a:buChar char="⚫"/>
              <a:tabLst>
                <a:tab pos="65278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researcher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controls</a:t>
            </a:r>
            <a:r>
              <a:rPr sz="1700" b="1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study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environment.</a:t>
            </a:r>
            <a:endParaRPr sz="17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09"/>
              </a:spcBef>
              <a:buClr>
                <a:srgbClr val="0E6EC5"/>
              </a:buClr>
              <a:buSzPct val="85294"/>
              <a:buFont typeface="Segoe UI Symbol"/>
              <a:buChar char="⚫"/>
              <a:tabLst>
                <a:tab pos="652780" algn="l"/>
              </a:tabLst>
            </a:pPr>
            <a:r>
              <a:rPr sz="1700" dirty="0">
                <a:latin typeface="Times New Roman"/>
                <a:cs typeface="Times New Roman"/>
              </a:rPr>
              <a:t>There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random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assignment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groups.</a:t>
            </a:r>
            <a:endParaRPr sz="17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405"/>
              </a:spcBef>
              <a:buClr>
                <a:srgbClr val="0E6EC5"/>
              </a:buClr>
              <a:buSzPct val="85294"/>
              <a:buFont typeface="Segoe UI Symbol"/>
              <a:buChar char="⚫"/>
              <a:tabLst>
                <a:tab pos="65278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cause-</a:t>
            </a:r>
            <a:r>
              <a:rPr sz="1700" b="1" spc="-10" dirty="0">
                <a:latin typeface="Times New Roman"/>
                <a:cs typeface="Times New Roman"/>
              </a:rPr>
              <a:t>and-</a:t>
            </a:r>
            <a:r>
              <a:rPr sz="1700" b="1" dirty="0">
                <a:latin typeface="Times New Roman"/>
                <a:cs typeface="Times New Roman"/>
              </a:rPr>
              <a:t>effect</a:t>
            </a:r>
            <a:r>
              <a:rPr sz="1700" b="1" spc="-7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relationship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tested.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4479" rIns="0" bIns="0" rtlCol="0">
            <a:spAutoFit/>
          </a:bodyPr>
          <a:lstStyle/>
          <a:p>
            <a:pPr marL="2130425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Times New Roman"/>
                <a:cs typeface="Times New Roman"/>
              </a:rPr>
              <a:t>Quasi-</a:t>
            </a:r>
            <a:r>
              <a:rPr sz="2000" b="1" dirty="0">
                <a:latin typeface="Times New Roman"/>
                <a:cs typeface="Times New Roman"/>
              </a:rPr>
              <a:t>Experimental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549463"/>
            <a:ext cx="8562975" cy="46367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b="1" dirty="0">
                <a:latin typeface="Times New Roman"/>
                <a:cs typeface="Times New Roman"/>
              </a:rPr>
              <a:t>Definition &amp;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Purpose: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Times New Roman"/>
                <a:cs typeface="Times New Roman"/>
              </a:rPr>
              <a:t>Quasi-</a:t>
            </a:r>
            <a:r>
              <a:rPr sz="1800" dirty="0">
                <a:latin typeface="Times New Roman"/>
                <a:cs typeface="Times New Roman"/>
              </a:rPr>
              <a:t>experimental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similar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experimental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lacks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random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assignment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participants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experimental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groups.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randomization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possible,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real-world settings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 </a:t>
            </a:r>
            <a:r>
              <a:rPr sz="1800" spc="-10" dirty="0">
                <a:latin typeface="Times New Roman"/>
                <a:cs typeface="Times New Roman"/>
              </a:rPr>
              <a:t>schools,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Times New Roman"/>
                <a:cs typeface="Times New Roman"/>
              </a:rPr>
              <a:t>workplaces,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hospitals.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helps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establish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causality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less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external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true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Times New Roman"/>
                <a:cs typeface="Times New Roman"/>
              </a:rPr>
              <a:t>experiments.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Used: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Times New Roman"/>
                <a:cs typeface="Times New Roman"/>
              </a:rPr>
              <a:t>Non-</a:t>
            </a:r>
            <a:r>
              <a:rPr sz="1800" dirty="0">
                <a:latin typeface="Times New Roman"/>
                <a:cs typeface="Times New Roman"/>
              </a:rPr>
              <a:t>randomized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group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studies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35" dirty="0">
                <a:latin typeface="Times New Roman"/>
                <a:cs typeface="Times New Roman"/>
              </a:rPr>
              <a:t>Time-</a:t>
            </a:r>
            <a:r>
              <a:rPr sz="1800" dirty="0">
                <a:latin typeface="Times New Roman"/>
                <a:cs typeface="Times New Roman"/>
              </a:rPr>
              <a:t>series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Times New Roman"/>
                <a:cs typeface="Times New Roman"/>
              </a:rPr>
              <a:t>Matched-</a:t>
            </a:r>
            <a:r>
              <a:rPr sz="1800" dirty="0">
                <a:latin typeface="Times New Roman"/>
                <a:cs typeface="Times New Roman"/>
              </a:rPr>
              <a:t>pair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studies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4479" rIns="0" bIns="0" rtlCol="0">
            <a:spAutoFit/>
          </a:bodyPr>
          <a:lstStyle/>
          <a:p>
            <a:pPr marL="2130425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Times New Roman"/>
                <a:cs typeface="Times New Roman"/>
              </a:rPr>
              <a:t>Quasi-</a:t>
            </a:r>
            <a:r>
              <a:rPr sz="2000" b="1" dirty="0">
                <a:latin typeface="Times New Roman"/>
                <a:cs typeface="Times New Roman"/>
              </a:rPr>
              <a:t>Experimental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Research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8562" rIns="0" bIns="0" rtlCol="0">
            <a:spAutoFit/>
          </a:bodyPr>
          <a:lstStyle/>
          <a:p>
            <a:pPr marL="274955" indent="-274320">
              <a:lnSpc>
                <a:spcPct val="100000"/>
              </a:lnSpc>
              <a:spcBef>
                <a:spcPts val="95"/>
              </a:spcBef>
              <a:buSzPct val="95000"/>
              <a:buFont typeface="Wingdings"/>
              <a:buChar char=""/>
              <a:tabLst>
                <a:tab pos="274955" algn="l"/>
              </a:tabLst>
            </a:pPr>
            <a:r>
              <a:rPr sz="2000" spc="-20" dirty="0"/>
              <a:t>Quasi-</a:t>
            </a:r>
            <a:r>
              <a:rPr sz="2000" dirty="0"/>
              <a:t>experimental</a:t>
            </a:r>
            <a:r>
              <a:rPr sz="2000" spc="40" dirty="0"/>
              <a:t> </a:t>
            </a:r>
            <a:r>
              <a:rPr sz="2000" dirty="0"/>
              <a:t>research</a:t>
            </a:r>
            <a:r>
              <a:rPr sz="2000" spc="-75" dirty="0"/>
              <a:t> </a:t>
            </a:r>
            <a:r>
              <a:rPr sz="2000" dirty="0"/>
              <a:t>is</a:t>
            </a:r>
            <a:r>
              <a:rPr sz="2000" spc="-35" dirty="0"/>
              <a:t> </a:t>
            </a:r>
            <a:r>
              <a:rPr sz="2000" dirty="0"/>
              <a:t>useful</a:t>
            </a:r>
            <a:r>
              <a:rPr sz="2000" spc="-30" dirty="0"/>
              <a:t> </a:t>
            </a:r>
            <a:r>
              <a:rPr sz="2000" dirty="0"/>
              <a:t>when</a:t>
            </a:r>
            <a:r>
              <a:rPr sz="2000" spc="30" dirty="0"/>
              <a:t> </a:t>
            </a:r>
            <a:r>
              <a:rPr sz="2000" spc="-20" dirty="0"/>
              <a:t>real-</a:t>
            </a:r>
            <a:r>
              <a:rPr sz="2000" dirty="0"/>
              <a:t>world</a:t>
            </a:r>
            <a:r>
              <a:rPr sz="2000" spc="-20" dirty="0"/>
              <a:t> </a:t>
            </a:r>
            <a:r>
              <a:rPr sz="2000" dirty="0"/>
              <a:t>constraints</a:t>
            </a:r>
            <a:r>
              <a:rPr sz="2000" spc="-35" dirty="0"/>
              <a:t> </a:t>
            </a:r>
            <a:r>
              <a:rPr sz="2000" dirty="0"/>
              <a:t>prevent</a:t>
            </a:r>
            <a:r>
              <a:rPr sz="2000" spc="-50" dirty="0"/>
              <a:t> </a:t>
            </a:r>
            <a:r>
              <a:rPr sz="2000" spc="-20" dirty="0"/>
              <a:t>true</a:t>
            </a:r>
            <a:endParaRPr sz="2000"/>
          </a:p>
          <a:p>
            <a:pPr marL="274955">
              <a:lnSpc>
                <a:spcPct val="100000"/>
              </a:lnSpc>
            </a:pPr>
            <a:r>
              <a:rPr sz="2000" dirty="0"/>
              <a:t>experimental</a:t>
            </a:r>
            <a:r>
              <a:rPr sz="2000" spc="-60" dirty="0"/>
              <a:t> </a:t>
            </a:r>
            <a:r>
              <a:rPr sz="2000" spc="-10" dirty="0"/>
              <a:t>design.</a:t>
            </a:r>
            <a:endParaRPr sz="2000"/>
          </a:p>
          <a:p>
            <a:pPr marL="274955" indent="-274320">
              <a:lnSpc>
                <a:spcPct val="100000"/>
              </a:lnSpc>
              <a:spcBef>
                <a:spcPts val="480"/>
              </a:spcBef>
              <a:buSzPct val="95000"/>
              <a:buFont typeface="Wingdings"/>
              <a:buChar char=""/>
              <a:tabLst>
                <a:tab pos="274955" algn="l"/>
              </a:tabLst>
            </a:pPr>
            <a:r>
              <a:rPr sz="2000" dirty="0"/>
              <a:t>It</a:t>
            </a:r>
            <a:r>
              <a:rPr sz="2000" spc="-60" dirty="0"/>
              <a:t> </a:t>
            </a:r>
            <a:r>
              <a:rPr sz="2000" dirty="0"/>
              <a:t>is</a:t>
            </a:r>
            <a:r>
              <a:rPr sz="2000" spc="-45" dirty="0"/>
              <a:t> </a:t>
            </a:r>
            <a:r>
              <a:rPr sz="2000" dirty="0"/>
              <a:t>widely</a:t>
            </a:r>
            <a:r>
              <a:rPr sz="2000" spc="25" dirty="0"/>
              <a:t> </a:t>
            </a:r>
            <a:r>
              <a:rPr sz="2000" dirty="0"/>
              <a:t>used</a:t>
            </a:r>
            <a:r>
              <a:rPr sz="2000" spc="-25" dirty="0"/>
              <a:t> </a:t>
            </a:r>
            <a:r>
              <a:rPr sz="2000" dirty="0"/>
              <a:t>in</a:t>
            </a:r>
            <a:r>
              <a:rPr sz="2000" spc="-20" dirty="0"/>
              <a:t> </a:t>
            </a:r>
            <a:r>
              <a:rPr sz="2000" dirty="0"/>
              <a:t>social</a:t>
            </a:r>
            <a:r>
              <a:rPr sz="2000" spc="-50" dirty="0"/>
              <a:t> </a:t>
            </a:r>
            <a:r>
              <a:rPr sz="2000" dirty="0"/>
              <a:t>sciences</a:t>
            </a:r>
            <a:r>
              <a:rPr sz="2000" spc="-15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dirty="0"/>
              <a:t>public</a:t>
            </a:r>
            <a:r>
              <a:rPr sz="2000" spc="-40" dirty="0"/>
              <a:t> </a:t>
            </a:r>
            <a:r>
              <a:rPr sz="2000" dirty="0"/>
              <a:t>policy</a:t>
            </a:r>
            <a:r>
              <a:rPr sz="2000" spc="-45" dirty="0"/>
              <a:t> </a:t>
            </a:r>
            <a:r>
              <a:rPr sz="2000" dirty="0"/>
              <a:t>research,</a:t>
            </a:r>
            <a:r>
              <a:rPr sz="2000" spc="-50" dirty="0"/>
              <a:t> </a:t>
            </a:r>
            <a:r>
              <a:rPr sz="2000" dirty="0"/>
              <a:t>especially</a:t>
            </a:r>
            <a:r>
              <a:rPr sz="2000" spc="-50" dirty="0"/>
              <a:t> </a:t>
            </a:r>
            <a:r>
              <a:rPr sz="2000" spc="-25" dirty="0"/>
              <a:t>in</a:t>
            </a:r>
            <a:endParaRPr sz="2000"/>
          </a:p>
          <a:p>
            <a:pPr marL="274955">
              <a:lnSpc>
                <a:spcPct val="100000"/>
              </a:lnSpc>
              <a:spcBef>
                <a:spcPts val="5"/>
              </a:spcBef>
              <a:tabLst>
                <a:tab pos="3249930" algn="l"/>
              </a:tabLst>
            </a:pPr>
            <a:r>
              <a:rPr sz="2000" dirty="0"/>
              <a:t>studies</a:t>
            </a:r>
            <a:r>
              <a:rPr sz="2000" spc="-70" dirty="0"/>
              <a:t> </a:t>
            </a:r>
            <a:r>
              <a:rPr sz="2000" dirty="0"/>
              <a:t>involving</a:t>
            </a:r>
            <a:r>
              <a:rPr sz="2000" spc="-50" dirty="0"/>
              <a:t> </a:t>
            </a:r>
            <a:r>
              <a:rPr sz="2000" spc="-10" dirty="0"/>
              <a:t>education,</a:t>
            </a:r>
            <a:r>
              <a:rPr sz="2000" dirty="0"/>
              <a:t>	healthcare,</a:t>
            </a:r>
            <a:r>
              <a:rPr sz="2000" spc="-85" dirty="0"/>
              <a:t> </a:t>
            </a:r>
            <a:r>
              <a:rPr sz="2000" dirty="0"/>
              <a:t>and</a:t>
            </a:r>
            <a:r>
              <a:rPr sz="2000" spc="-60" dirty="0"/>
              <a:t> </a:t>
            </a:r>
            <a:r>
              <a:rPr sz="2000" dirty="0"/>
              <a:t>community</a:t>
            </a:r>
            <a:r>
              <a:rPr sz="2000" spc="-20" dirty="0"/>
              <a:t> </a:t>
            </a:r>
            <a:r>
              <a:rPr sz="2000" spc="-10" dirty="0"/>
              <a:t>programs.</a:t>
            </a:r>
            <a:endParaRPr sz="2000"/>
          </a:p>
          <a:p>
            <a:pPr marL="274955" indent="-274320">
              <a:lnSpc>
                <a:spcPct val="100000"/>
              </a:lnSpc>
              <a:spcBef>
                <a:spcPts val="480"/>
              </a:spcBef>
              <a:buSzPct val="95000"/>
              <a:buFont typeface="Wingdings"/>
              <a:buChar char=""/>
              <a:tabLst>
                <a:tab pos="274955" algn="l"/>
              </a:tabLst>
            </a:pPr>
            <a:r>
              <a:rPr sz="2000" dirty="0"/>
              <a:t>Used</a:t>
            </a:r>
            <a:r>
              <a:rPr sz="2000" spc="-35" dirty="0"/>
              <a:t> </a:t>
            </a:r>
            <a:r>
              <a:rPr sz="2000" dirty="0"/>
              <a:t>in</a:t>
            </a:r>
            <a:r>
              <a:rPr sz="2000" spc="-30" dirty="0"/>
              <a:t> </a:t>
            </a:r>
            <a:r>
              <a:rPr sz="2000" dirty="0"/>
              <a:t>business</a:t>
            </a:r>
            <a:r>
              <a:rPr sz="2000" spc="-35" dirty="0"/>
              <a:t> </a:t>
            </a:r>
            <a:r>
              <a:rPr sz="2000" dirty="0"/>
              <a:t>research,</a:t>
            </a:r>
            <a:r>
              <a:rPr sz="2000" spc="-35" dirty="0"/>
              <a:t> </a:t>
            </a:r>
            <a:r>
              <a:rPr sz="2000" dirty="0"/>
              <a:t>where randomization</a:t>
            </a:r>
            <a:r>
              <a:rPr sz="2000" spc="-35" dirty="0"/>
              <a:t> </a:t>
            </a:r>
            <a:r>
              <a:rPr sz="2000" dirty="0"/>
              <a:t>is</a:t>
            </a:r>
            <a:r>
              <a:rPr sz="2000" spc="-25" dirty="0"/>
              <a:t> </a:t>
            </a:r>
            <a:r>
              <a:rPr sz="2000" dirty="0"/>
              <a:t>impractical,</a:t>
            </a:r>
            <a:r>
              <a:rPr sz="2000" spc="-45" dirty="0"/>
              <a:t> </a:t>
            </a:r>
            <a:r>
              <a:rPr sz="2000" dirty="0"/>
              <a:t>such</a:t>
            </a:r>
            <a:r>
              <a:rPr sz="2000" spc="-30" dirty="0"/>
              <a:t> </a:t>
            </a:r>
            <a:r>
              <a:rPr sz="2000" dirty="0"/>
              <a:t>as</a:t>
            </a:r>
            <a:r>
              <a:rPr sz="2000" spc="-45" dirty="0"/>
              <a:t> </a:t>
            </a:r>
            <a:r>
              <a:rPr sz="2000" dirty="0"/>
              <a:t>in</a:t>
            </a:r>
            <a:r>
              <a:rPr sz="2000" spc="-35" dirty="0"/>
              <a:t> </a:t>
            </a:r>
            <a:r>
              <a:rPr sz="2000" spc="-10" dirty="0"/>
              <a:t>testing</a:t>
            </a:r>
            <a:endParaRPr sz="2000"/>
          </a:p>
          <a:p>
            <a:pPr marL="274955">
              <a:lnSpc>
                <a:spcPct val="100000"/>
              </a:lnSpc>
              <a:tabLst>
                <a:tab pos="1916430" algn="l"/>
              </a:tabLst>
            </a:pPr>
            <a:r>
              <a:rPr sz="2000" dirty="0"/>
              <a:t>new</a:t>
            </a:r>
            <a:r>
              <a:rPr sz="2000" spc="-20" dirty="0"/>
              <a:t> </a:t>
            </a:r>
            <a:r>
              <a:rPr sz="2000" spc="-10" dirty="0"/>
              <a:t>marketing</a:t>
            </a:r>
            <a:r>
              <a:rPr sz="2000" dirty="0"/>
              <a:t>	campaigns</a:t>
            </a:r>
            <a:r>
              <a:rPr sz="2000" spc="-15" dirty="0"/>
              <a:t> </a:t>
            </a:r>
            <a:r>
              <a:rPr sz="2000" dirty="0"/>
              <a:t>or</a:t>
            </a:r>
            <a:r>
              <a:rPr sz="2000" spc="-65" dirty="0"/>
              <a:t> </a:t>
            </a:r>
            <a:r>
              <a:rPr sz="2000" dirty="0"/>
              <a:t>HR</a:t>
            </a:r>
            <a:r>
              <a:rPr sz="2000" spc="-40" dirty="0"/>
              <a:t> </a:t>
            </a:r>
            <a:r>
              <a:rPr sz="2000" spc="-10" dirty="0"/>
              <a:t>policies.</a:t>
            </a:r>
            <a:endParaRPr sz="2000"/>
          </a:p>
          <a:p>
            <a:pPr marL="274955" indent="-274320">
              <a:lnSpc>
                <a:spcPct val="100000"/>
              </a:lnSpc>
              <a:spcBef>
                <a:spcPts val="480"/>
              </a:spcBef>
              <a:buSzPct val="95000"/>
              <a:buFont typeface="Wingdings"/>
              <a:buChar char=""/>
              <a:tabLst>
                <a:tab pos="274955" algn="l"/>
              </a:tabLst>
            </a:pPr>
            <a:r>
              <a:rPr sz="2000" dirty="0"/>
              <a:t>This</a:t>
            </a:r>
            <a:r>
              <a:rPr sz="2000" spc="-60" dirty="0"/>
              <a:t> </a:t>
            </a:r>
            <a:r>
              <a:rPr sz="2000" dirty="0"/>
              <a:t>design</a:t>
            </a:r>
            <a:r>
              <a:rPr sz="2000" spc="-30" dirty="0"/>
              <a:t> </a:t>
            </a:r>
            <a:r>
              <a:rPr sz="2000" dirty="0"/>
              <a:t>is</a:t>
            </a:r>
            <a:r>
              <a:rPr sz="2000" spc="-60" dirty="0"/>
              <a:t> </a:t>
            </a:r>
            <a:r>
              <a:rPr sz="2000" dirty="0"/>
              <a:t>common</a:t>
            </a:r>
            <a:r>
              <a:rPr sz="2000" spc="15" dirty="0"/>
              <a:t> </a:t>
            </a:r>
            <a:r>
              <a:rPr sz="2000" dirty="0"/>
              <a:t>in</a:t>
            </a:r>
            <a:r>
              <a:rPr sz="2000" spc="-60" dirty="0"/>
              <a:t> </a:t>
            </a:r>
            <a:r>
              <a:rPr sz="2000" dirty="0"/>
              <a:t>medical</a:t>
            </a:r>
            <a:r>
              <a:rPr sz="2000" spc="-20" dirty="0"/>
              <a:t> </a:t>
            </a:r>
            <a:r>
              <a:rPr sz="2000" dirty="0"/>
              <a:t>and</a:t>
            </a:r>
            <a:r>
              <a:rPr sz="2000" spc="-40" dirty="0"/>
              <a:t> </a:t>
            </a:r>
            <a:r>
              <a:rPr sz="2000" dirty="0"/>
              <a:t>clinical</a:t>
            </a:r>
            <a:r>
              <a:rPr sz="2000" spc="-45" dirty="0"/>
              <a:t> </a:t>
            </a:r>
            <a:r>
              <a:rPr sz="2000" dirty="0"/>
              <a:t>research,</a:t>
            </a:r>
            <a:r>
              <a:rPr sz="2000" spc="-40" dirty="0"/>
              <a:t> </a:t>
            </a:r>
            <a:r>
              <a:rPr sz="2000" dirty="0"/>
              <a:t>where</a:t>
            </a:r>
            <a:r>
              <a:rPr sz="2000" spc="30" dirty="0"/>
              <a:t> </a:t>
            </a:r>
            <a:r>
              <a:rPr sz="2000" dirty="0"/>
              <a:t>ethical</a:t>
            </a:r>
            <a:r>
              <a:rPr sz="2000" spc="-50" dirty="0"/>
              <a:t> </a:t>
            </a:r>
            <a:r>
              <a:rPr sz="2000" spc="-10" dirty="0"/>
              <a:t>concerns</a:t>
            </a:r>
            <a:endParaRPr sz="2000"/>
          </a:p>
          <a:p>
            <a:pPr marL="274955">
              <a:lnSpc>
                <a:spcPct val="100000"/>
              </a:lnSpc>
            </a:pPr>
            <a:r>
              <a:rPr sz="2000" dirty="0"/>
              <a:t>prevent</a:t>
            </a:r>
            <a:r>
              <a:rPr sz="2000" spc="-55" dirty="0"/>
              <a:t> </a:t>
            </a:r>
            <a:r>
              <a:rPr sz="2000" dirty="0"/>
              <a:t>full</a:t>
            </a:r>
            <a:r>
              <a:rPr sz="2000" spc="-25" dirty="0"/>
              <a:t> </a:t>
            </a:r>
            <a:r>
              <a:rPr sz="2000" spc="-10" dirty="0"/>
              <a:t>randomization.</a:t>
            </a:r>
            <a:endParaRPr sz="2000"/>
          </a:p>
          <a:p>
            <a:pPr marL="274955" indent="-274320">
              <a:lnSpc>
                <a:spcPct val="100000"/>
              </a:lnSpc>
              <a:spcBef>
                <a:spcPts val="480"/>
              </a:spcBef>
              <a:buSzPct val="95000"/>
              <a:buFont typeface="Wingdings"/>
              <a:buChar char=""/>
              <a:tabLst>
                <a:tab pos="274955" algn="l"/>
              </a:tabLst>
            </a:pPr>
            <a:r>
              <a:rPr sz="2000" dirty="0"/>
              <a:t>Used</a:t>
            </a:r>
            <a:r>
              <a:rPr sz="2000" spc="-45" dirty="0"/>
              <a:t> </a:t>
            </a:r>
            <a:r>
              <a:rPr sz="2000" dirty="0"/>
              <a:t>in</a:t>
            </a:r>
            <a:r>
              <a:rPr sz="2000" spc="-40" dirty="0"/>
              <a:t> </a:t>
            </a:r>
            <a:r>
              <a:rPr sz="2000" dirty="0"/>
              <a:t>economics</a:t>
            </a:r>
            <a:r>
              <a:rPr sz="2000" spc="-40" dirty="0"/>
              <a:t> </a:t>
            </a:r>
            <a:r>
              <a:rPr sz="2000" dirty="0"/>
              <a:t>and</a:t>
            </a:r>
            <a:r>
              <a:rPr sz="2000" spc="-45" dirty="0"/>
              <a:t> </a:t>
            </a:r>
            <a:r>
              <a:rPr sz="2000" dirty="0"/>
              <a:t>finance,</a:t>
            </a:r>
            <a:r>
              <a:rPr sz="2000" spc="-5" dirty="0"/>
              <a:t> </a:t>
            </a:r>
            <a:r>
              <a:rPr sz="2000" dirty="0"/>
              <a:t>where</a:t>
            </a:r>
            <a:r>
              <a:rPr sz="2000" spc="-5" dirty="0"/>
              <a:t> </a:t>
            </a:r>
            <a:r>
              <a:rPr sz="2000" dirty="0"/>
              <a:t>pre-existing</a:t>
            </a:r>
            <a:r>
              <a:rPr sz="2000" spc="-25" dirty="0"/>
              <a:t> </a:t>
            </a:r>
            <a:r>
              <a:rPr sz="2000" dirty="0"/>
              <a:t>data</a:t>
            </a:r>
            <a:r>
              <a:rPr sz="2000" spc="-70" dirty="0"/>
              <a:t> </a:t>
            </a:r>
            <a:r>
              <a:rPr sz="2000" dirty="0"/>
              <a:t>and</a:t>
            </a:r>
            <a:r>
              <a:rPr sz="2000" spc="-45" dirty="0"/>
              <a:t> </a:t>
            </a:r>
            <a:r>
              <a:rPr sz="2000" spc="-10" dirty="0"/>
              <a:t>observational</a:t>
            </a:r>
            <a:endParaRPr sz="2000"/>
          </a:p>
          <a:p>
            <a:pPr marL="274955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studies</a:t>
            </a:r>
            <a:r>
              <a:rPr sz="2000" spc="-10" dirty="0"/>
              <a:t> </a:t>
            </a:r>
            <a:r>
              <a:rPr sz="2000" dirty="0"/>
              <a:t>form</a:t>
            </a:r>
            <a:r>
              <a:rPr sz="2000" spc="-35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basis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40" dirty="0"/>
              <a:t> </a:t>
            </a:r>
            <a:r>
              <a:rPr sz="2000" spc="-10" dirty="0"/>
              <a:t>analysis.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648609"/>
            <a:ext cx="8568055" cy="530923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600" b="1" spc="-25" dirty="0">
                <a:latin typeface="Times New Roman"/>
                <a:cs typeface="Times New Roman"/>
              </a:rPr>
              <a:t>Ex: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  <a:tabLst>
                <a:tab pos="6203950" algn="l"/>
              </a:tabLst>
            </a:pPr>
            <a:r>
              <a:rPr sz="2200" b="1" spc="-30" dirty="0">
                <a:latin typeface="Times New Roman"/>
                <a:cs typeface="Times New Roman"/>
              </a:rPr>
              <a:t>Topic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–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“The Effect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Online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Learning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on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Student</a:t>
            </a:r>
            <a:r>
              <a:rPr sz="2200" b="1" dirty="0">
                <a:latin typeface="Times New Roman"/>
                <a:cs typeface="Times New Roman"/>
              </a:rPr>
              <a:t>	Performance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spc="-50" dirty="0">
                <a:latin typeface="Times New Roman"/>
                <a:cs typeface="Times New Roman"/>
              </a:rPr>
              <a:t>“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  <a:spcBef>
                <a:spcPts val="265"/>
              </a:spcBef>
            </a:pPr>
            <a:r>
              <a:rPr sz="2200" b="1" dirty="0">
                <a:latin typeface="Times New Roman"/>
                <a:cs typeface="Times New Roman"/>
              </a:rPr>
              <a:t>Objective:</a:t>
            </a:r>
            <a:r>
              <a:rPr sz="2200" b="1" spc="-12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online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improves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students'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test</a:t>
            </a:r>
            <a:endParaRPr sz="2200">
              <a:latin typeface="Times New Roman"/>
              <a:cs typeface="Times New Roman"/>
            </a:endParaRPr>
          </a:p>
          <a:p>
            <a:pPr marL="28702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scores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compared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traditional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classroom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learning.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400" b="1" spc="-10" dirty="0">
                <a:latin typeface="Times New Roman"/>
                <a:cs typeface="Times New Roman"/>
              </a:rPr>
              <a:t>Method:</a:t>
            </a:r>
            <a:endParaRPr sz="2400">
              <a:latin typeface="Times New Roman"/>
              <a:cs typeface="Times New Roman"/>
            </a:endParaRPr>
          </a:p>
          <a:p>
            <a:pPr marL="652780" marR="112395" indent="-247015">
              <a:lnSpc>
                <a:spcPts val="2590"/>
              </a:lnSpc>
              <a:spcBef>
                <a:spcPts val="620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780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students: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online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classroom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learning.</a:t>
            </a:r>
            <a:endParaRPr sz="2400">
              <a:latin typeface="Times New Roman"/>
              <a:cs typeface="Times New Roman"/>
            </a:endParaRPr>
          </a:p>
          <a:p>
            <a:pPr marL="652145" indent="-246379">
              <a:lnSpc>
                <a:spcPts val="2735"/>
              </a:lnSpc>
              <a:spcBef>
                <a:spcPts val="250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characteristics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grade</a:t>
            </a:r>
            <a:endParaRPr sz="2400">
              <a:latin typeface="Times New Roman"/>
              <a:cs typeface="Times New Roman"/>
            </a:endParaRPr>
          </a:p>
          <a:p>
            <a:pPr marL="65278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level,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performance).</a:t>
            </a:r>
            <a:endParaRPr sz="2400">
              <a:latin typeface="Times New Roman"/>
              <a:cs typeface="Times New Roman"/>
            </a:endParaRPr>
          </a:p>
          <a:p>
            <a:pPr marL="652145" indent="-246379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dirty="0">
                <a:latin typeface="Times New Roman"/>
                <a:cs typeface="Times New Roman"/>
              </a:rPr>
              <a:t>Compare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scores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semester.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b="1" dirty="0">
                <a:latin typeface="Times New Roman"/>
                <a:cs typeface="Times New Roman"/>
              </a:rPr>
              <a:t>Why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Quasi-</a:t>
            </a:r>
            <a:r>
              <a:rPr sz="2400" b="1" spc="-10" dirty="0">
                <a:latin typeface="Times New Roman"/>
                <a:cs typeface="Times New Roman"/>
              </a:rPr>
              <a:t>Experimental?</a:t>
            </a:r>
            <a:endParaRPr sz="2400">
              <a:latin typeface="Times New Roman"/>
              <a:cs typeface="Times New Roman"/>
            </a:endParaRPr>
          </a:p>
          <a:p>
            <a:pPr marL="652145" indent="-246379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(students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already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classes).</a:t>
            </a:r>
            <a:endParaRPr sz="2400">
              <a:latin typeface="Times New Roman"/>
              <a:cs typeface="Times New Roman"/>
            </a:endParaRPr>
          </a:p>
          <a:p>
            <a:pPr marL="652780" marR="5080" indent="-247015">
              <a:lnSpc>
                <a:spcPts val="2590"/>
              </a:lnSpc>
              <a:spcBef>
                <a:spcPts val="615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78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still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compares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cause-and-effect relationships.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636419"/>
            <a:ext cx="8324215" cy="53733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4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655" algn="l"/>
              </a:tabLst>
            </a:pPr>
            <a:r>
              <a:rPr sz="2600" b="1" spc="-20" dirty="0">
                <a:latin typeface="Constantia"/>
                <a:cs typeface="Constantia"/>
              </a:rPr>
              <a:t>Example</a:t>
            </a:r>
            <a:r>
              <a:rPr sz="2600" b="1" spc="-140" dirty="0">
                <a:latin typeface="Constantia"/>
                <a:cs typeface="Constantia"/>
              </a:rPr>
              <a:t> </a:t>
            </a:r>
            <a:r>
              <a:rPr sz="2600" b="1" spc="-10" dirty="0">
                <a:latin typeface="Constantia"/>
                <a:cs typeface="Constantia"/>
              </a:rPr>
              <a:t>showing</a:t>
            </a:r>
            <a:r>
              <a:rPr sz="2600" b="1" spc="-105" dirty="0">
                <a:latin typeface="Constantia"/>
                <a:cs typeface="Constantia"/>
              </a:rPr>
              <a:t> </a:t>
            </a:r>
            <a:r>
              <a:rPr sz="2600" b="1" dirty="0">
                <a:latin typeface="Constantia"/>
                <a:cs typeface="Constantia"/>
              </a:rPr>
              <a:t>the</a:t>
            </a:r>
            <a:r>
              <a:rPr sz="2600" b="1" spc="-155" dirty="0">
                <a:latin typeface="Constantia"/>
                <a:cs typeface="Constantia"/>
              </a:rPr>
              <a:t> </a:t>
            </a:r>
            <a:r>
              <a:rPr sz="2600" b="1" spc="-20" dirty="0">
                <a:latin typeface="Constantia"/>
                <a:cs typeface="Constantia"/>
              </a:rPr>
              <a:t>difference</a:t>
            </a:r>
            <a:r>
              <a:rPr sz="2600" b="1" spc="-60" dirty="0">
                <a:latin typeface="Constantia"/>
                <a:cs typeface="Constantia"/>
              </a:rPr>
              <a:t> </a:t>
            </a:r>
            <a:r>
              <a:rPr sz="2600" b="1" spc="-10" dirty="0">
                <a:latin typeface="Constantia"/>
                <a:cs typeface="Constantia"/>
              </a:rPr>
              <a:t>between</a:t>
            </a:r>
            <a:r>
              <a:rPr sz="2600" b="1" spc="-70" dirty="0">
                <a:latin typeface="Constantia"/>
                <a:cs typeface="Constantia"/>
              </a:rPr>
              <a:t> </a:t>
            </a:r>
            <a:r>
              <a:rPr sz="2600" b="1" spc="-10" dirty="0">
                <a:latin typeface="Constantia"/>
                <a:cs typeface="Constantia"/>
              </a:rPr>
              <a:t>both.</a:t>
            </a:r>
            <a:endParaRPr sz="2600">
              <a:latin typeface="Constantia"/>
              <a:cs typeface="Constantia"/>
            </a:endParaRPr>
          </a:p>
          <a:p>
            <a:pPr marL="287655" indent="-27495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655" algn="l"/>
              </a:tabLst>
            </a:pPr>
            <a:r>
              <a:rPr sz="2600" b="1" spc="-10" dirty="0">
                <a:latin typeface="Constantia"/>
                <a:cs typeface="Constantia"/>
              </a:rPr>
              <a:t>Experimental</a:t>
            </a:r>
            <a:r>
              <a:rPr sz="2600" b="1" spc="-90" dirty="0">
                <a:latin typeface="Constantia"/>
                <a:cs typeface="Constantia"/>
              </a:rPr>
              <a:t> </a:t>
            </a:r>
            <a:r>
              <a:rPr sz="2600" b="1" dirty="0">
                <a:latin typeface="Constantia"/>
                <a:cs typeface="Constantia"/>
              </a:rPr>
              <a:t>Design</a:t>
            </a:r>
            <a:r>
              <a:rPr sz="2600" b="1" spc="-120" dirty="0">
                <a:latin typeface="Constantia"/>
                <a:cs typeface="Constantia"/>
              </a:rPr>
              <a:t> </a:t>
            </a:r>
            <a:r>
              <a:rPr sz="2600" b="1" spc="-10" dirty="0">
                <a:latin typeface="Constantia"/>
                <a:cs typeface="Constantia"/>
              </a:rPr>
              <a:t>Example:</a:t>
            </a:r>
            <a:endParaRPr sz="2600">
              <a:latin typeface="Constantia"/>
              <a:cs typeface="Constantia"/>
            </a:endParaRPr>
          </a:p>
          <a:p>
            <a:pPr marL="652145" lvl="1" indent="-246379">
              <a:lnSpc>
                <a:spcPts val="2735"/>
              </a:lnSpc>
              <a:spcBef>
                <a:spcPts val="320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university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wants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to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test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new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b="1" spc="-20" dirty="0">
                <a:latin typeface="Constantia"/>
                <a:cs typeface="Constantia"/>
              </a:rPr>
              <a:t>programming</a:t>
            </a:r>
            <a:r>
              <a:rPr sz="2400" b="1" spc="-55" dirty="0">
                <a:latin typeface="Constantia"/>
                <a:cs typeface="Constantia"/>
              </a:rPr>
              <a:t> </a:t>
            </a:r>
            <a:r>
              <a:rPr sz="2400" b="1" spc="-10" dirty="0">
                <a:latin typeface="Constantia"/>
                <a:cs typeface="Constantia"/>
              </a:rPr>
              <a:t>teaching</a:t>
            </a:r>
            <a:endParaRPr sz="2400">
              <a:latin typeface="Constantia"/>
              <a:cs typeface="Constantia"/>
            </a:endParaRPr>
          </a:p>
          <a:p>
            <a:pPr marL="652780">
              <a:lnSpc>
                <a:spcPts val="2735"/>
              </a:lnSpc>
            </a:pPr>
            <a:r>
              <a:rPr sz="2400" b="1" spc="-10" dirty="0">
                <a:latin typeface="Constantia"/>
                <a:cs typeface="Constantia"/>
              </a:rPr>
              <a:t>method</a:t>
            </a:r>
            <a:r>
              <a:rPr sz="2400" spc="-10" dirty="0">
                <a:latin typeface="Constantia"/>
                <a:cs typeface="Constantia"/>
              </a:rPr>
              <a:t>.</a:t>
            </a:r>
            <a:endParaRPr sz="2400">
              <a:latin typeface="Constantia"/>
              <a:cs typeface="Constantia"/>
            </a:endParaRPr>
          </a:p>
          <a:p>
            <a:pPr marL="652145" lvl="1" indent="-246379">
              <a:lnSpc>
                <a:spcPct val="100000"/>
              </a:lnSpc>
              <a:spcBef>
                <a:spcPts val="295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dirty="0">
                <a:latin typeface="Constantia"/>
                <a:cs typeface="Constantia"/>
              </a:rPr>
              <a:t>They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randomly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divide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students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into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40" dirty="0">
                <a:latin typeface="Constantia"/>
                <a:cs typeface="Constantia"/>
              </a:rPr>
              <a:t>two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groups:</a:t>
            </a:r>
            <a:endParaRPr sz="2400">
              <a:latin typeface="Constantia"/>
              <a:cs typeface="Constantia"/>
            </a:endParaRPr>
          </a:p>
          <a:p>
            <a:pPr marL="927100" lvl="2" indent="-247015">
              <a:lnSpc>
                <a:spcPct val="100000"/>
              </a:lnSpc>
              <a:spcBef>
                <a:spcPts val="250"/>
              </a:spcBef>
              <a:buClr>
                <a:srgbClr val="009DD9"/>
              </a:buClr>
              <a:buSzPct val="69047"/>
              <a:buFont typeface="Segoe UI Symbol"/>
              <a:buChar char="⚫"/>
              <a:tabLst>
                <a:tab pos="927100" algn="l"/>
              </a:tabLst>
            </a:pPr>
            <a:r>
              <a:rPr sz="2100" b="1" spc="-10" dirty="0">
                <a:latin typeface="Constantia"/>
                <a:cs typeface="Constantia"/>
              </a:rPr>
              <a:t>Group</a:t>
            </a:r>
            <a:r>
              <a:rPr sz="2100" b="1" spc="-114" dirty="0">
                <a:latin typeface="Constantia"/>
                <a:cs typeface="Constantia"/>
              </a:rPr>
              <a:t> </a:t>
            </a:r>
            <a:r>
              <a:rPr sz="2100" b="1" dirty="0">
                <a:latin typeface="Constantia"/>
                <a:cs typeface="Constantia"/>
              </a:rPr>
              <a:t>A</a:t>
            </a:r>
            <a:r>
              <a:rPr sz="2100" b="1" spc="-80" dirty="0">
                <a:latin typeface="Constantia"/>
                <a:cs typeface="Constantia"/>
              </a:rPr>
              <a:t> </a:t>
            </a:r>
            <a:r>
              <a:rPr sz="2100" b="1" dirty="0">
                <a:latin typeface="Constantia"/>
                <a:cs typeface="Constantia"/>
              </a:rPr>
              <a:t>(Experimental</a:t>
            </a:r>
            <a:r>
              <a:rPr sz="2100" b="1" spc="-55" dirty="0">
                <a:latin typeface="Constantia"/>
                <a:cs typeface="Constantia"/>
              </a:rPr>
              <a:t> </a:t>
            </a:r>
            <a:r>
              <a:rPr sz="2100" b="1" dirty="0">
                <a:latin typeface="Constantia"/>
                <a:cs typeface="Constantia"/>
              </a:rPr>
              <a:t>Group)</a:t>
            </a:r>
            <a:r>
              <a:rPr sz="2100" b="1" spc="-40" dirty="0">
                <a:latin typeface="Constantia"/>
                <a:cs typeface="Constantia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learns</a:t>
            </a:r>
            <a:r>
              <a:rPr sz="2100" spc="-140" dirty="0">
                <a:latin typeface="Constantia"/>
                <a:cs typeface="Constantia"/>
              </a:rPr>
              <a:t> </a:t>
            </a:r>
            <a:r>
              <a:rPr sz="2100" dirty="0">
                <a:latin typeface="Constantia"/>
                <a:cs typeface="Constantia"/>
              </a:rPr>
              <a:t>with</a:t>
            </a:r>
            <a:r>
              <a:rPr sz="2100" spc="-75" dirty="0">
                <a:latin typeface="Constantia"/>
                <a:cs typeface="Constantia"/>
              </a:rPr>
              <a:t> </a:t>
            </a:r>
            <a:r>
              <a:rPr sz="2100" dirty="0">
                <a:latin typeface="Constantia"/>
                <a:cs typeface="Constantia"/>
              </a:rPr>
              <a:t>the</a:t>
            </a:r>
            <a:r>
              <a:rPr sz="2100" spc="-85" dirty="0">
                <a:latin typeface="Constantia"/>
                <a:cs typeface="Constantia"/>
              </a:rPr>
              <a:t> </a:t>
            </a:r>
            <a:r>
              <a:rPr sz="2100" dirty="0">
                <a:latin typeface="Constantia"/>
                <a:cs typeface="Constantia"/>
              </a:rPr>
              <a:t>new</a:t>
            </a:r>
            <a:r>
              <a:rPr sz="2100" spc="-55" dirty="0">
                <a:latin typeface="Constantia"/>
                <a:cs typeface="Constantia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method.</a:t>
            </a:r>
            <a:endParaRPr sz="2100">
              <a:latin typeface="Constantia"/>
              <a:cs typeface="Constantia"/>
            </a:endParaRPr>
          </a:p>
          <a:p>
            <a:pPr marL="927100" lvl="2" indent="-247015">
              <a:lnSpc>
                <a:spcPct val="100000"/>
              </a:lnSpc>
              <a:spcBef>
                <a:spcPts val="265"/>
              </a:spcBef>
              <a:buClr>
                <a:srgbClr val="009DD9"/>
              </a:buClr>
              <a:buSzPct val="69047"/>
              <a:buFont typeface="Segoe UI Symbol"/>
              <a:buChar char="⚫"/>
              <a:tabLst>
                <a:tab pos="927100" algn="l"/>
              </a:tabLst>
            </a:pPr>
            <a:r>
              <a:rPr sz="2100" b="1" dirty="0">
                <a:latin typeface="Constantia"/>
                <a:cs typeface="Constantia"/>
              </a:rPr>
              <a:t>Group</a:t>
            </a:r>
            <a:r>
              <a:rPr sz="2100" b="1" spc="-110" dirty="0">
                <a:latin typeface="Constantia"/>
                <a:cs typeface="Constantia"/>
              </a:rPr>
              <a:t> </a:t>
            </a:r>
            <a:r>
              <a:rPr sz="2100" b="1" dirty="0">
                <a:latin typeface="Constantia"/>
                <a:cs typeface="Constantia"/>
              </a:rPr>
              <a:t>B</a:t>
            </a:r>
            <a:r>
              <a:rPr sz="2100" b="1" spc="-5" dirty="0">
                <a:latin typeface="Constantia"/>
                <a:cs typeface="Constantia"/>
              </a:rPr>
              <a:t> </a:t>
            </a:r>
            <a:r>
              <a:rPr sz="2100" b="1" dirty="0">
                <a:latin typeface="Constantia"/>
                <a:cs typeface="Constantia"/>
              </a:rPr>
              <a:t>(Control</a:t>
            </a:r>
            <a:r>
              <a:rPr sz="2100" b="1" spc="-80" dirty="0">
                <a:latin typeface="Constantia"/>
                <a:cs typeface="Constantia"/>
              </a:rPr>
              <a:t> </a:t>
            </a:r>
            <a:r>
              <a:rPr sz="2100" b="1" dirty="0">
                <a:latin typeface="Constantia"/>
                <a:cs typeface="Constantia"/>
              </a:rPr>
              <a:t>Group)</a:t>
            </a:r>
            <a:r>
              <a:rPr sz="2100" b="1" spc="-35" dirty="0">
                <a:latin typeface="Constantia"/>
                <a:cs typeface="Constantia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learns</a:t>
            </a:r>
            <a:r>
              <a:rPr sz="2100" spc="-140" dirty="0">
                <a:latin typeface="Constantia"/>
                <a:cs typeface="Constantia"/>
              </a:rPr>
              <a:t> </a:t>
            </a:r>
            <a:r>
              <a:rPr sz="2100" dirty="0">
                <a:latin typeface="Constantia"/>
                <a:cs typeface="Constantia"/>
              </a:rPr>
              <a:t>with</a:t>
            </a:r>
            <a:r>
              <a:rPr sz="2100" spc="-80" dirty="0">
                <a:latin typeface="Constantia"/>
                <a:cs typeface="Constantia"/>
              </a:rPr>
              <a:t> </a:t>
            </a:r>
            <a:r>
              <a:rPr sz="2100" dirty="0">
                <a:latin typeface="Constantia"/>
                <a:cs typeface="Constantia"/>
              </a:rPr>
              <a:t>the</a:t>
            </a:r>
            <a:r>
              <a:rPr sz="2100" spc="-110" dirty="0">
                <a:latin typeface="Constantia"/>
                <a:cs typeface="Constantia"/>
              </a:rPr>
              <a:t> </a:t>
            </a:r>
            <a:r>
              <a:rPr sz="2100" dirty="0">
                <a:latin typeface="Constantia"/>
                <a:cs typeface="Constantia"/>
              </a:rPr>
              <a:t>traditional</a:t>
            </a:r>
            <a:r>
              <a:rPr sz="2100" spc="-55" dirty="0">
                <a:latin typeface="Constantia"/>
                <a:cs typeface="Constantia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method.</a:t>
            </a:r>
            <a:endParaRPr sz="2100">
              <a:latin typeface="Constantia"/>
              <a:cs typeface="Constantia"/>
            </a:endParaRPr>
          </a:p>
          <a:p>
            <a:pPr marL="652145" lvl="1" indent="-246379">
              <a:lnSpc>
                <a:spcPct val="100000"/>
              </a:lnSpc>
              <a:spcBef>
                <a:spcPts val="275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spc="-25" dirty="0">
                <a:latin typeface="Constantia"/>
                <a:cs typeface="Constantia"/>
              </a:rPr>
              <a:t>After</a:t>
            </a:r>
            <a:r>
              <a:rPr sz="2400" spc="-1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4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semester, </a:t>
            </a:r>
            <a:r>
              <a:rPr sz="2400" spc="-10" dirty="0">
                <a:latin typeface="Constantia"/>
                <a:cs typeface="Constantia"/>
              </a:rPr>
              <a:t>their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performance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is</a:t>
            </a:r>
            <a:r>
              <a:rPr sz="2400" spc="-13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compared.</a:t>
            </a:r>
            <a:endParaRPr sz="2400">
              <a:latin typeface="Constantia"/>
              <a:cs typeface="Constantia"/>
            </a:endParaRPr>
          </a:p>
          <a:p>
            <a:pPr marL="287655" indent="-27495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655" algn="l"/>
              </a:tabLst>
            </a:pPr>
            <a:r>
              <a:rPr sz="2600" b="1" spc="-20" dirty="0">
                <a:latin typeface="Constantia"/>
                <a:cs typeface="Constantia"/>
              </a:rPr>
              <a:t>Quasi-</a:t>
            </a:r>
            <a:r>
              <a:rPr sz="2600" b="1" spc="-10" dirty="0">
                <a:latin typeface="Constantia"/>
                <a:cs typeface="Constantia"/>
              </a:rPr>
              <a:t>Experimental</a:t>
            </a:r>
            <a:r>
              <a:rPr sz="2600" b="1" spc="-55" dirty="0">
                <a:latin typeface="Constantia"/>
                <a:cs typeface="Constantia"/>
              </a:rPr>
              <a:t> </a:t>
            </a:r>
            <a:r>
              <a:rPr sz="2600" b="1" dirty="0">
                <a:latin typeface="Constantia"/>
                <a:cs typeface="Constantia"/>
              </a:rPr>
              <a:t>Design</a:t>
            </a:r>
            <a:r>
              <a:rPr sz="2600" b="1" spc="-75" dirty="0">
                <a:latin typeface="Constantia"/>
                <a:cs typeface="Constantia"/>
              </a:rPr>
              <a:t> </a:t>
            </a:r>
            <a:r>
              <a:rPr sz="2600" b="1" spc="-10" dirty="0">
                <a:latin typeface="Constantia"/>
                <a:cs typeface="Constantia"/>
              </a:rPr>
              <a:t>Example:</a:t>
            </a:r>
            <a:endParaRPr sz="2600">
              <a:latin typeface="Constantia"/>
              <a:cs typeface="Constantia"/>
            </a:endParaRPr>
          </a:p>
          <a:p>
            <a:pPr marL="652780" marR="5080" lvl="1" indent="-247015" algn="just">
              <a:lnSpc>
                <a:spcPct val="90100"/>
              </a:lnSpc>
              <a:spcBef>
                <a:spcPts val="605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780" algn="l"/>
              </a:tabLst>
            </a:pP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5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study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wants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45" dirty="0">
                <a:latin typeface="Constantia"/>
                <a:cs typeface="Constantia"/>
              </a:rPr>
              <a:t>to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compare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b="1" spc="-10" dirty="0">
                <a:latin typeface="Constantia"/>
                <a:cs typeface="Constantia"/>
              </a:rPr>
              <a:t>coding</a:t>
            </a:r>
            <a:r>
              <a:rPr sz="2400" b="1" spc="-65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skills</a:t>
            </a:r>
            <a:r>
              <a:rPr sz="2400" b="1" spc="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between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students </a:t>
            </a:r>
            <a:r>
              <a:rPr sz="2400" dirty="0">
                <a:latin typeface="Constantia"/>
                <a:cs typeface="Constantia"/>
              </a:rPr>
              <a:t>from</a:t>
            </a:r>
            <a:r>
              <a:rPr sz="2400" spc="-135" dirty="0">
                <a:latin typeface="Constantia"/>
                <a:cs typeface="Constantia"/>
              </a:rPr>
              <a:t> </a:t>
            </a:r>
            <a:r>
              <a:rPr sz="2400" b="1" spc="-45" dirty="0">
                <a:latin typeface="Constantia"/>
                <a:cs typeface="Constantia"/>
              </a:rPr>
              <a:t>two</a:t>
            </a:r>
            <a:r>
              <a:rPr sz="2400" b="1" spc="-100" dirty="0">
                <a:latin typeface="Constantia"/>
                <a:cs typeface="Constantia"/>
              </a:rPr>
              <a:t> </a:t>
            </a:r>
            <a:r>
              <a:rPr sz="2400" b="1" spc="-20" dirty="0">
                <a:latin typeface="Constantia"/>
                <a:cs typeface="Constantia"/>
              </a:rPr>
              <a:t>different</a:t>
            </a:r>
            <a:r>
              <a:rPr sz="2400" b="1" spc="-105" dirty="0">
                <a:latin typeface="Constantia"/>
                <a:cs typeface="Constantia"/>
              </a:rPr>
              <a:t> </a:t>
            </a:r>
            <a:r>
              <a:rPr sz="2400" b="1" spc="-10" dirty="0">
                <a:latin typeface="Constantia"/>
                <a:cs typeface="Constantia"/>
              </a:rPr>
              <a:t>colleges</a:t>
            </a:r>
            <a:r>
              <a:rPr sz="2400" b="1" spc="-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(one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using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online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classes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and </a:t>
            </a:r>
            <a:r>
              <a:rPr sz="2400" dirty="0">
                <a:latin typeface="Constantia"/>
                <a:cs typeface="Constantia"/>
              </a:rPr>
              <a:t>the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other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using</a:t>
            </a:r>
            <a:r>
              <a:rPr sz="2400" spc="-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offline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classes).</a:t>
            </a:r>
            <a:endParaRPr sz="2400">
              <a:latin typeface="Constantia"/>
              <a:cs typeface="Constantia"/>
            </a:endParaRPr>
          </a:p>
          <a:p>
            <a:pPr marL="652145" lvl="1" indent="-246379" algn="just">
              <a:lnSpc>
                <a:spcPts val="2735"/>
              </a:lnSpc>
              <a:spcBef>
                <a:spcPts val="290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2145" algn="l"/>
              </a:tabLst>
            </a:pPr>
            <a:r>
              <a:rPr sz="2400" spc="-20" dirty="0">
                <a:latin typeface="Constantia"/>
                <a:cs typeface="Constantia"/>
              </a:rPr>
              <a:t>Since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students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cannot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be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randomly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assigned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35" dirty="0">
                <a:latin typeface="Constantia"/>
                <a:cs typeface="Constantia"/>
              </a:rPr>
              <a:t>to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different</a:t>
            </a:r>
            <a:endParaRPr sz="2400">
              <a:latin typeface="Constantia"/>
              <a:cs typeface="Constantia"/>
            </a:endParaRPr>
          </a:p>
          <a:p>
            <a:pPr marL="652780" algn="just">
              <a:lnSpc>
                <a:spcPts val="2735"/>
              </a:lnSpc>
            </a:pPr>
            <a:r>
              <a:rPr sz="2400" spc="-10" dirty="0">
                <a:latin typeface="Constantia"/>
                <a:cs typeface="Constantia"/>
              </a:rPr>
              <a:t>college,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the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study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observes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pre-</a:t>
            </a:r>
            <a:r>
              <a:rPr sz="2400" dirty="0">
                <a:latin typeface="Constantia"/>
                <a:cs typeface="Constantia"/>
              </a:rPr>
              <a:t>existing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groups.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2876" y="187197"/>
            <a:ext cx="581533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b="1" dirty="0">
                <a:latin typeface="Times New Roman"/>
                <a:cs typeface="Times New Roman"/>
              </a:rPr>
              <a:t>Components</a:t>
            </a:r>
            <a:r>
              <a:rPr sz="3300" b="1" spc="-6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of</a:t>
            </a:r>
            <a:r>
              <a:rPr sz="3300" b="1" spc="-2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Research</a:t>
            </a:r>
            <a:r>
              <a:rPr sz="3300" b="1" spc="-65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Design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957" y="692861"/>
            <a:ext cx="8428990" cy="5379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6385" indent="-285750">
              <a:lnSpc>
                <a:spcPct val="100000"/>
              </a:lnSpc>
              <a:spcBef>
                <a:spcPts val="110"/>
              </a:spcBef>
              <a:buSzPct val="91071"/>
              <a:buFont typeface="Segoe UI Symbol"/>
              <a:buChar char="⚫"/>
              <a:tabLst>
                <a:tab pos="28638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Objectives</a:t>
            </a:r>
            <a:endParaRPr sz="2800">
              <a:latin typeface="Times New Roman"/>
              <a:cs typeface="Times New Roman"/>
            </a:endParaRPr>
          </a:p>
          <a:p>
            <a:pPr marL="286385" marR="542925" indent="-274320">
              <a:lnSpc>
                <a:spcPct val="80000"/>
              </a:lnSpc>
              <a:spcBef>
                <a:spcPts val="595"/>
              </a:spcBef>
            </a:pPr>
            <a:r>
              <a:rPr sz="2400" b="1" spc="-90" dirty="0">
                <a:latin typeface="Times New Roman"/>
                <a:cs typeface="Times New Roman"/>
              </a:rPr>
              <a:t>To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Provide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Clear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Research Framework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logical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objectives,</a:t>
            </a:r>
            <a:r>
              <a:rPr sz="2400" spc="-25" dirty="0">
                <a:latin typeface="Times New Roman"/>
                <a:cs typeface="Times New Roman"/>
              </a:rPr>
              <a:t> and </a:t>
            </a:r>
            <a:r>
              <a:rPr sz="2400" spc="-10" dirty="0">
                <a:latin typeface="Times New Roman"/>
                <a:cs typeface="Times New Roman"/>
              </a:rPr>
              <a:t>methodology.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5"/>
              </a:lnSpc>
            </a:pPr>
            <a:r>
              <a:rPr sz="2400" b="1" spc="-100" dirty="0">
                <a:latin typeface="Times New Roman"/>
                <a:cs typeface="Times New Roman"/>
              </a:rPr>
              <a:t>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Ensure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Validity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Reliability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Minimize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bias,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enhance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595"/>
              </a:lnSpc>
            </a:pPr>
            <a:r>
              <a:rPr sz="2400" spc="-10" dirty="0">
                <a:latin typeface="Times New Roman"/>
                <a:cs typeface="Times New Roman"/>
              </a:rPr>
              <a:t>accuracy,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replicability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findings.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5"/>
              </a:lnSpc>
            </a:pPr>
            <a:r>
              <a:rPr sz="2400" b="1" spc="-100" dirty="0">
                <a:latin typeface="Times New Roman"/>
                <a:cs typeface="Times New Roman"/>
              </a:rPr>
              <a:t>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Guide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Collection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and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Analysis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appropriate</a:t>
            </a:r>
            <a:endParaRPr sz="2400">
              <a:latin typeface="Times New Roman"/>
              <a:cs typeface="Times New Roman"/>
            </a:endParaRPr>
          </a:p>
          <a:p>
            <a:pPr marR="412750" algn="ctr">
              <a:lnSpc>
                <a:spcPts val="2595"/>
              </a:lnSpc>
            </a:pP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gathering,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measurement,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interpretation.</a:t>
            </a:r>
            <a:endParaRPr sz="2400">
              <a:latin typeface="Times New Roman"/>
              <a:cs typeface="Times New Roman"/>
            </a:endParaRPr>
          </a:p>
          <a:p>
            <a:pPr marR="347345" algn="ctr">
              <a:lnSpc>
                <a:spcPts val="2595"/>
              </a:lnSpc>
            </a:pPr>
            <a:r>
              <a:rPr sz="2400" b="1" spc="-114" dirty="0">
                <a:latin typeface="Times New Roman"/>
                <a:cs typeface="Times New Roman"/>
              </a:rPr>
              <a:t>To</a:t>
            </a:r>
            <a:r>
              <a:rPr sz="2400" b="1" spc="-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Align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Research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with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Theory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consistency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between</a:t>
            </a:r>
            <a:endParaRPr sz="2400">
              <a:latin typeface="Times New Roman"/>
              <a:cs typeface="Times New Roman"/>
            </a:endParaRPr>
          </a:p>
          <a:p>
            <a:pPr marR="553720" algn="ctr">
              <a:lnSpc>
                <a:spcPts val="2595"/>
              </a:lnSpc>
            </a:pP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questions,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hypotheses,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theoretical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foundations.</a:t>
            </a:r>
            <a:endParaRPr sz="2400">
              <a:latin typeface="Times New Roman"/>
              <a:cs typeface="Times New Roman"/>
            </a:endParaRPr>
          </a:p>
          <a:p>
            <a:pPr marR="1273810" algn="r">
              <a:lnSpc>
                <a:spcPts val="2595"/>
              </a:lnSpc>
            </a:pPr>
            <a:r>
              <a:rPr sz="2400" b="1" spc="-100" dirty="0">
                <a:latin typeface="Times New Roman"/>
                <a:cs typeface="Times New Roman"/>
              </a:rPr>
              <a:t>To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Facilitate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Decision-</a:t>
            </a:r>
            <a:r>
              <a:rPr sz="2400" b="1" dirty="0">
                <a:latin typeface="Times New Roman"/>
                <a:cs typeface="Times New Roman"/>
              </a:rPr>
              <a:t>Making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evidence-based</a:t>
            </a:r>
            <a:endParaRPr sz="2400">
              <a:latin typeface="Times New Roman"/>
              <a:cs typeface="Times New Roman"/>
            </a:endParaRPr>
          </a:p>
          <a:p>
            <a:pPr marR="1252855" algn="r">
              <a:lnSpc>
                <a:spcPts val="2595"/>
              </a:lnSpc>
            </a:pPr>
            <a:r>
              <a:rPr sz="2400" dirty="0">
                <a:latin typeface="Times New Roman"/>
                <a:cs typeface="Times New Roman"/>
              </a:rPr>
              <a:t>conclusions,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especially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 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research.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5"/>
              </a:lnSpc>
            </a:pPr>
            <a:r>
              <a:rPr sz="2400" b="1" spc="-100" dirty="0">
                <a:latin typeface="Times New Roman"/>
                <a:cs typeface="Times New Roman"/>
              </a:rPr>
              <a:t>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Support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Different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Research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Approaches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strategies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595"/>
              </a:lnSpc>
            </a:pPr>
            <a:r>
              <a:rPr sz="2400" dirty="0">
                <a:latin typeface="Times New Roman"/>
                <a:cs typeface="Times New Roman"/>
              </a:rPr>
              <a:t>qualitative,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quantitative,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mixed-methods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research.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55"/>
              </a:lnSpc>
            </a:pPr>
            <a:r>
              <a:rPr sz="2400" b="1" spc="-100" dirty="0">
                <a:latin typeface="Times New Roman"/>
                <a:cs typeface="Times New Roman"/>
              </a:rPr>
              <a:t>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Maintain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Ethical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Standards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Promote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ethical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considerations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795"/>
              </a:lnSpc>
            </a:pPr>
            <a:r>
              <a:rPr sz="2400" dirty="0">
                <a:latin typeface="Times New Roman"/>
                <a:cs typeface="Times New Roman"/>
              </a:rPr>
              <a:t>study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collection,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reporting</a:t>
            </a:r>
            <a:r>
              <a:rPr sz="2600" spc="-10" dirty="0">
                <a:latin typeface="Constantia"/>
                <a:cs typeface="Constantia"/>
              </a:rPr>
              <a:t>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0450" y="144271"/>
            <a:ext cx="194183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spc="-10" dirty="0">
                <a:latin typeface="Times New Roman"/>
                <a:cs typeface="Times New Roman"/>
              </a:rPr>
              <a:t>Hypothesis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9557" y="810844"/>
            <a:ext cx="8592820" cy="54038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10795" algn="just">
              <a:lnSpc>
                <a:spcPts val="2810"/>
              </a:lnSpc>
              <a:spcBef>
                <a:spcPts val="445"/>
              </a:spcBef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hypothesis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testable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assumption that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provides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focal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point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research.</a:t>
            </a:r>
            <a:endParaRPr sz="26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810"/>
              </a:lnSpc>
              <a:spcBef>
                <a:spcPts val="625"/>
              </a:spcBef>
            </a:pPr>
            <a:r>
              <a:rPr sz="2600" dirty="0">
                <a:latin typeface="Times New Roman"/>
                <a:cs typeface="Times New Roman"/>
              </a:rPr>
              <a:t>When</a:t>
            </a:r>
            <a:r>
              <a:rPr sz="2600" spc="355" dirty="0">
                <a:latin typeface="Times New Roman"/>
                <a:cs typeface="Times New Roman"/>
              </a:rPr>
              <a:t>  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researcher</a:t>
            </a:r>
            <a:r>
              <a:rPr sz="2600" spc="114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observes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known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facts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1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takes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up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spc="-50" dirty="0">
                <a:latin typeface="Times New Roman"/>
                <a:cs typeface="Times New Roman"/>
              </a:rPr>
              <a:t>a </a:t>
            </a:r>
            <a:r>
              <a:rPr sz="2600" dirty="0">
                <a:latin typeface="Times New Roman"/>
                <a:cs typeface="Times New Roman"/>
              </a:rPr>
              <a:t>problem</a:t>
            </a:r>
            <a:r>
              <a:rPr sz="2600" spc="3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3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analysis,</a:t>
            </a:r>
            <a:r>
              <a:rPr sz="2600" spc="4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</a:t>
            </a:r>
            <a:r>
              <a:rPr sz="2600" spc="3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first</a:t>
            </a:r>
            <a:r>
              <a:rPr sz="2600" spc="3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has</a:t>
            </a:r>
            <a:r>
              <a:rPr sz="2600" spc="3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3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start</a:t>
            </a:r>
            <a:r>
              <a:rPr sz="2600" spc="3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somewhere</a:t>
            </a:r>
            <a:r>
              <a:rPr sz="2600" spc="3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3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this </a:t>
            </a:r>
            <a:r>
              <a:rPr sz="2600" dirty="0">
                <a:latin typeface="Times New Roman"/>
                <a:cs typeface="Times New Roman"/>
              </a:rPr>
              <a:t>point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start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hypothesis.</a:t>
            </a:r>
            <a:endParaRPr sz="26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89900"/>
              </a:lnSpc>
              <a:spcBef>
                <a:spcPts val="585"/>
              </a:spcBef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1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helps</a:t>
            </a:r>
            <a:r>
              <a:rPr sz="2600" spc="1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2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formulating</a:t>
            </a:r>
            <a:r>
              <a:rPr sz="2600" spc="484" dirty="0">
                <a:latin typeface="Times New Roman"/>
                <a:cs typeface="Times New Roman"/>
              </a:rPr>
              <a:t>   </a:t>
            </a:r>
            <a:r>
              <a:rPr sz="2600" dirty="0">
                <a:latin typeface="Times New Roman"/>
                <a:cs typeface="Times New Roman"/>
              </a:rPr>
              <a:t>research</a:t>
            </a:r>
            <a:r>
              <a:rPr sz="2600" spc="2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objectives,</a:t>
            </a:r>
            <a:r>
              <a:rPr sz="2600" spc="2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guiding</a:t>
            </a:r>
            <a:r>
              <a:rPr sz="2600" spc="195" dirty="0">
                <a:latin typeface="Times New Roman"/>
                <a:cs typeface="Times New Roman"/>
              </a:rPr>
              <a:t>  </a:t>
            </a:r>
            <a:r>
              <a:rPr sz="2600" spc="-20" dirty="0">
                <a:latin typeface="Times New Roman"/>
                <a:cs typeface="Times New Roman"/>
              </a:rPr>
              <a:t>data </a:t>
            </a:r>
            <a:r>
              <a:rPr sz="2600" dirty="0">
                <a:latin typeface="Times New Roman"/>
                <a:cs typeface="Times New Roman"/>
              </a:rPr>
              <a:t>collection,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4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determining</a:t>
            </a:r>
            <a:r>
              <a:rPr sz="2600" spc="45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analytical</a:t>
            </a:r>
            <a:r>
              <a:rPr sz="2600" spc="4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methods.</a:t>
            </a:r>
            <a:r>
              <a:rPr sz="2600" spc="4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459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shapes</a:t>
            </a:r>
            <a:r>
              <a:rPr sz="2600" b="1" spc="455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the </a:t>
            </a:r>
            <a:r>
              <a:rPr sz="2600" b="1" spc="-10" dirty="0">
                <a:latin typeface="Times New Roman"/>
                <a:cs typeface="Times New Roman"/>
              </a:rPr>
              <a:t>research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process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setting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boundaries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focusing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relevant </a:t>
            </a:r>
            <a:r>
              <a:rPr sz="2600" dirty="0">
                <a:latin typeface="Times New Roman"/>
                <a:cs typeface="Times New Roman"/>
              </a:rPr>
              <a:t>aspects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problem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90000"/>
              </a:lnSpc>
              <a:spcBef>
                <a:spcPts val="635"/>
              </a:spcBef>
            </a:pP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4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computer</a:t>
            </a:r>
            <a:r>
              <a:rPr sz="2600" spc="4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science,</a:t>
            </a:r>
            <a:r>
              <a:rPr sz="2600" spc="4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40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hypothesis</a:t>
            </a:r>
            <a:r>
              <a:rPr sz="2600" spc="43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4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4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testable</a:t>
            </a:r>
            <a:r>
              <a:rPr sz="2600" spc="40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assumption</a:t>
            </a:r>
            <a:r>
              <a:rPr sz="2600" spc="4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or </a:t>
            </a:r>
            <a:r>
              <a:rPr sz="2600" dirty="0">
                <a:latin typeface="Times New Roman"/>
                <a:cs typeface="Times New Roman"/>
              </a:rPr>
              <a:t>prediction</a:t>
            </a:r>
            <a:r>
              <a:rPr sz="2600" spc="5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about</a:t>
            </a:r>
            <a:r>
              <a:rPr sz="2600" spc="5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system,</a:t>
            </a:r>
            <a:r>
              <a:rPr sz="2600" spc="50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algorithm,</a:t>
            </a:r>
            <a:r>
              <a:rPr sz="2600" spc="5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dataset</a:t>
            </a:r>
            <a:r>
              <a:rPr sz="2600" spc="5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5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5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be </a:t>
            </a:r>
            <a:r>
              <a:rPr sz="2600" dirty="0">
                <a:latin typeface="Times New Roman"/>
                <a:cs typeface="Times New Roman"/>
              </a:rPr>
              <a:t>verified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through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experiments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analysis.</a:t>
            </a:r>
            <a:endParaRPr sz="2600">
              <a:latin typeface="Times New Roman"/>
              <a:cs typeface="Times New Roman"/>
            </a:endParaRPr>
          </a:p>
          <a:p>
            <a:pPr marL="12700" marR="10160" algn="just">
              <a:lnSpc>
                <a:spcPts val="2810"/>
              </a:lnSpc>
              <a:spcBef>
                <a:spcPts val="660"/>
              </a:spcBef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3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helps</a:t>
            </a:r>
            <a:r>
              <a:rPr sz="2600" spc="3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researchers</a:t>
            </a:r>
            <a:r>
              <a:rPr sz="2600" spc="3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define</a:t>
            </a:r>
            <a:r>
              <a:rPr sz="2600" spc="3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problems,</a:t>
            </a:r>
            <a:r>
              <a:rPr sz="2600" spc="3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guide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investigations,</a:t>
            </a:r>
            <a:r>
              <a:rPr sz="2600" spc="3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dirty="0">
                <a:latin typeface="Times New Roman"/>
                <a:cs typeface="Times New Roman"/>
              </a:rPr>
              <a:t>validate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findings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using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computational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methods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557" y="422910"/>
            <a:ext cx="8520430" cy="5415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 marR="76835" indent="-3175">
              <a:lnSpc>
                <a:spcPct val="100000"/>
              </a:lnSpc>
              <a:spcBef>
                <a:spcPts val="90"/>
              </a:spcBef>
            </a:pP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hypothesis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predicts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relationship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between </a:t>
            </a:r>
            <a:r>
              <a:rPr sz="2600" dirty="0">
                <a:latin typeface="Times New Roman"/>
                <a:cs typeface="Times New Roman"/>
              </a:rPr>
              <a:t>variables.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educated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guess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researchers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test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through </a:t>
            </a:r>
            <a:r>
              <a:rPr sz="2600" dirty="0">
                <a:latin typeface="Times New Roman"/>
                <a:cs typeface="Times New Roman"/>
              </a:rPr>
              <a:t>experiments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observations.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600" b="1" dirty="0">
                <a:latin typeface="Times New Roman"/>
                <a:cs typeface="Times New Roman"/>
              </a:rPr>
              <a:t>Simple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Example:</a:t>
            </a:r>
            <a:endParaRPr sz="2600">
              <a:latin typeface="Times New Roman"/>
              <a:cs typeface="Times New Roman"/>
            </a:endParaRPr>
          </a:p>
          <a:p>
            <a:pPr marL="12700" marR="290830">
              <a:lnSpc>
                <a:spcPct val="120000"/>
              </a:lnSpc>
            </a:pPr>
            <a:r>
              <a:rPr sz="2600" b="1" dirty="0">
                <a:latin typeface="Times New Roman"/>
                <a:cs typeface="Times New Roman"/>
              </a:rPr>
              <a:t>Hypothesis:</a:t>
            </a:r>
            <a:r>
              <a:rPr sz="2600" b="1" spc="-1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Drinking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more</a:t>
            </a:r>
            <a:r>
              <a:rPr sz="2600" b="1" spc="-9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water</a:t>
            </a:r>
            <a:r>
              <a:rPr sz="2600" b="1" spc="-1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improves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concentration. </a:t>
            </a:r>
            <a:r>
              <a:rPr sz="2600" b="1" dirty="0">
                <a:latin typeface="Times New Roman"/>
                <a:cs typeface="Times New Roman"/>
              </a:rPr>
              <a:t>Independent</a:t>
            </a:r>
            <a:r>
              <a:rPr sz="2600" b="1" spc="-114" dirty="0">
                <a:latin typeface="Times New Roman"/>
                <a:cs typeface="Times New Roman"/>
              </a:rPr>
              <a:t> </a:t>
            </a:r>
            <a:r>
              <a:rPr sz="2600" b="1" spc="-40" dirty="0">
                <a:latin typeface="Times New Roman"/>
                <a:cs typeface="Times New Roman"/>
              </a:rPr>
              <a:t>Variable:</a:t>
            </a:r>
            <a:r>
              <a:rPr sz="2600" b="1" spc="-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Amount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water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consumed.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Times New Roman"/>
                <a:cs typeface="Times New Roman"/>
              </a:rPr>
              <a:t>Dependent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Variable: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Level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concentration.</a:t>
            </a:r>
            <a:endParaRPr sz="2600">
              <a:latin typeface="Times New Roman"/>
              <a:cs typeface="Times New Roman"/>
            </a:endParaRPr>
          </a:p>
          <a:p>
            <a:pPr marL="15240" marR="587375" indent="-3175">
              <a:lnSpc>
                <a:spcPct val="100000"/>
              </a:lnSpc>
              <a:spcBef>
                <a:spcPts val="630"/>
              </a:spcBef>
            </a:pPr>
            <a:r>
              <a:rPr sz="2600" b="1" spc="-30" dirty="0">
                <a:latin typeface="Times New Roman"/>
                <a:cs typeface="Times New Roman"/>
              </a:rPr>
              <a:t>Test: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Compare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concentration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levels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two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groups—</a:t>
            </a:r>
            <a:r>
              <a:rPr sz="2600" spc="-25" dirty="0">
                <a:latin typeface="Times New Roman"/>
                <a:cs typeface="Times New Roman"/>
              </a:rPr>
              <a:t>one </a:t>
            </a:r>
            <a:r>
              <a:rPr sz="2600" dirty="0">
                <a:latin typeface="Times New Roman"/>
                <a:cs typeface="Times New Roman"/>
              </a:rPr>
              <a:t>drinking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plenty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water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another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drinking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very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little.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group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drinking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water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performs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better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on </a:t>
            </a:r>
            <a:r>
              <a:rPr sz="2600" dirty="0">
                <a:latin typeface="Times New Roman"/>
                <a:cs typeface="Times New Roman"/>
              </a:rPr>
              <a:t>concentration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tests,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hypothesis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supported.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not,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be </a:t>
            </a:r>
            <a:r>
              <a:rPr sz="2600" spc="-10" dirty="0">
                <a:latin typeface="Times New Roman"/>
                <a:cs typeface="Times New Roman"/>
              </a:rPr>
              <a:t>rejected.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4659" algn="ctr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-2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working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hypothesis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spcBef>
                <a:spcPts val="610"/>
              </a:spcBef>
            </a:pPr>
            <a:r>
              <a:rPr sz="2400" dirty="0"/>
              <a:t>Is</a:t>
            </a:r>
            <a:r>
              <a:rPr sz="2400" spc="5" dirty="0"/>
              <a:t> </a:t>
            </a:r>
            <a:r>
              <a:rPr sz="2400" dirty="0"/>
              <a:t>a</a:t>
            </a:r>
            <a:r>
              <a:rPr sz="2400" spc="-25" dirty="0"/>
              <a:t> </a:t>
            </a:r>
            <a:r>
              <a:rPr sz="2400" dirty="0"/>
              <a:t>tentative</a:t>
            </a:r>
            <a:r>
              <a:rPr sz="2400" spc="-65" dirty="0"/>
              <a:t> </a:t>
            </a:r>
            <a:r>
              <a:rPr sz="2400" dirty="0"/>
              <a:t>assumption</a:t>
            </a:r>
            <a:r>
              <a:rPr sz="2400" spc="-55" dirty="0"/>
              <a:t> </a:t>
            </a:r>
            <a:r>
              <a:rPr sz="2400" dirty="0"/>
              <a:t>proposed</a:t>
            </a:r>
            <a:r>
              <a:rPr sz="2400" spc="-15" dirty="0"/>
              <a:t> </a:t>
            </a:r>
            <a:r>
              <a:rPr sz="2400" dirty="0"/>
              <a:t>to</a:t>
            </a:r>
            <a:r>
              <a:rPr sz="2400" spc="-55" dirty="0"/>
              <a:t> </a:t>
            </a:r>
            <a:r>
              <a:rPr sz="2400" dirty="0"/>
              <a:t>guide</a:t>
            </a:r>
            <a:r>
              <a:rPr sz="2400" spc="-20" dirty="0"/>
              <a:t> </a:t>
            </a:r>
            <a:r>
              <a:rPr sz="2400" dirty="0"/>
              <a:t>research</a:t>
            </a:r>
            <a:r>
              <a:rPr sz="2400" spc="10" dirty="0"/>
              <a:t> </a:t>
            </a:r>
            <a:r>
              <a:rPr sz="2400" dirty="0"/>
              <a:t>by</a:t>
            </a:r>
            <a:r>
              <a:rPr sz="2400" spc="-35" dirty="0"/>
              <a:t> </a:t>
            </a:r>
            <a:r>
              <a:rPr sz="2400" dirty="0"/>
              <a:t>helping</a:t>
            </a:r>
            <a:r>
              <a:rPr sz="2400" spc="-40" dirty="0"/>
              <a:t> </a:t>
            </a:r>
            <a:r>
              <a:rPr sz="2400" spc="-25" dirty="0"/>
              <a:t>to </a:t>
            </a:r>
            <a:r>
              <a:rPr sz="2400" dirty="0"/>
              <a:t>structure</a:t>
            </a:r>
            <a:r>
              <a:rPr sz="2400" spc="-50" dirty="0"/>
              <a:t> </a:t>
            </a:r>
            <a:r>
              <a:rPr sz="2400" dirty="0"/>
              <a:t>data collection</a:t>
            </a:r>
            <a:r>
              <a:rPr sz="2400" spc="-45" dirty="0"/>
              <a:t> </a:t>
            </a:r>
            <a:r>
              <a:rPr sz="2400" dirty="0"/>
              <a:t>and</a:t>
            </a:r>
            <a:r>
              <a:rPr sz="2400" spc="-15" dirty="0"/>
              <a:t> </a:t>
            </a:r>
            <a:r>
              <a:rPr sz="2400" spc="-10" dirty="0"/>
              <a:t>analysis.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60375" y="1802638"/>
            <a:ext cx="8496300" cy="4020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60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crucial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studies,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influencing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overall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direction,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methodology,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well-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hypothesis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essential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narrow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scope,</a:t>
            </a:r>
            <a:r>
              <a:rPr sz="2400" spc="-10" dirty="0">
                <a:latin typeface="Times New Roman"/>
                <a:cs typeface="Times New Roman"/>
              </a:rPr>
              <a:t> ensures clarity,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required.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Importance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Working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Hypothesis: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unnecessary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exploration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keeping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focused.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70100"/>
              </a:lnSpc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enhances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logical</a:t>
            </a:r>
            <a:r>
              <a:rPr sz="2400" spc="-10" dirty="0">
                <a:latin typeface="Times New Roman"/>
                <a:cs typeface="Times New Roman"/>
              </a:rPr>
              <a:t> reasoning.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analytical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required.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8" y="407873"/>
            <a:ext cx="48190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Methods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Developing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Hypotheses: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8488" y="1066622"/>
            <a:ext cx="8483600" cy="468693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83845" marR="1269365" indent="-271780">
              <a:lnSpc>
                <a:spcPct val="80000"/>
              </a:lnSpc>
              <a:spcBef>
                <a:spcPts val="635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283845" algn="l"/>
              </a:tabLst>
            </a:pPr>
            <a:r>
              <a:rPr sz="2200" dirty="0">
                <a:latin typeface="Times New Roman"/>
                <a:cs typeface="Times New Roman"/>
              </a:rPr>
              <a:t>Discussions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Experts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&amp;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Peers: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Consulting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knowledgeable </a:t>
            </a:r>
            <a:r>
              <a:rPr sz="2200" dirty="0">
                <a:latin typeface="Times New Roman"/>
                <a:cs typeface="Times New Roman"/>
              </a:rPr>
              <a:t>individuals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refine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research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problem.</a:t>
            </a:r>
            <a:endParaRPr sz="2200">
              <a:latin typeface="Times New Roman"/>
              <a:cs typeface="Times New Roman"/>
            </a:endParaRPr>
          </a:p>
          <a:p>
            <a:pPr marL="283845" indent="-271145">
              <a:lnSpc>
                <a:spcPts val="2375"/>
              </a:lnSpc>
              <a:spcBef>
                <a:spcPts val="5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283845" algn="l"/>
              </a:tabLst>
            </a:pPr>
            <a:r>
              <a:rPr sz="2200" dirty="0">
                <a:latin typeface="Times New Roman"/>
                <a:cs typeface="Times New Roman"/>
              </a:rPr>
              <a:t>Examining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&amp;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Records: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Reviewing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existing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datasets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reveal</a:t>
            </a:r>
            <a:endParaRPr sz="2200">
              <a:latin typeface="Times New Roman"/>
              <a:cs typeface="Times New Roman"/>
            </a:endParaRPr>
          </a:p>
          <a:p>
            <a:pPr marL="283845">
              <a:lnSpc>
                <a:spcPts val="2375"/>
              </a:lnSpc>
            </a:pPr>
            <a:r>
              <a:rPr sz="2200" dirty="0">
                <a:latin typeface="Times New Roman"/>
                <a:cs typeface="Times New Roman"/>
              </a:rPr>
              <a:t>patterns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trends.</a:t>
            </a:r>
            <a:endParaRPr sz="2200">
              <a:latin typeface="Times New Roman"/>
              <a:cs typeface="Times New Roman"/>
            </a:endParaRPr>
          </a:p>
          <a:p>
            <a:pPr marL="283845" indent="-271145">
              <a:lnSpc>
                <a:spcPts val="2375"/>
              </a:lnSpc>
              <a:buClr>
                <a:srgbClr val="0E6EC5"/>
              </a:buClr>
              <a:buSzPct val="84090"/>
              <a:buFont typeface="Segoe UI Symbol"/>
              <a:buChar char="⚫"/>
              <a:tabLst>
                <a:tab pos="283845" algn="l"/>
              </a:tabLst>
            </a:pPr>
            <a:r>
              <a:rPr sz="2200" dirty="0">
                <a:latin typeface="Times New Roman"/>
                <a:cs typeface="Times New Roman"/>
              </a:rPr>
              <a:t>Reviewing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Similar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Studies:</a:t>
            </a:r>
            <a:r>
              <a:rPr sz="2200" spc="-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Analyzing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previous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research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insight</a:t>
            </a:r>
            <a:endParaRPr sz="2200">
              <a:latin typeface="Times New Roman"/>
              <a:cs typeface="Times New Roman"/>
            </a:endParaRPr>
          </a:p>
          <a:p>
            <a:pPr marL="283845">
              <a:lnSpc>
                <a:spcPts val="2375"/>
              </a:lnSpc>
            </a:pP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existing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gaps.</a:t>
            </a:r>
            <a:endParaRPr sz="2200">
              <a:latin typeface="Times New Roman"/>
              <a:cs typeface="Times New Roman"/>
            </a:endParaRPr>
          </a:p>
          <a:p>
            <a:pPr marL="283845" indent="-271145">
              <a:lnSpc>
                <a:spcPts val="2375"/>
              </a:lnSpc>
              <a:spcBef>
                <a:spcPts val="5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283845" algn="l"/>
              </a:tabLst>
            </a:pPr>
            <a:r>
              <a:rPr sz="2200" dirty="0">
                <a:latin typeface="Times New Roman"/>
                <a:cs typeface="Times New Roman"/>
              </a:rPr>
              <a:t>Exploratory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Investigation: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Conducting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initial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field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studies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interviews</a:t>
            </a:r>
            <a:endParaRPr sz="2200">
              <a:latin typeface="Times New Roman"/>
              <a:cs typeface="Times New Roman"/>
            </a:endParaRPr>
          </a:p>
          <a:p>
            <a:pPr marL="283845">
              <a:lnSpc>
                <a:spcPts val="2375"/>
              </a:lnSpc>
            </a:pP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understanding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issue.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Characteristics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Effective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Hypothesis:</a:t>
            </a:r>
            <a:endParaRPr sz="24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10"/>
              </a:spcBef>
              <a:buClr>
                <a:srgbClr val="0E6EC5"/>
              </a:buClr>
              <a:buSzPct val="84090"/>
              <a:buFont typeface="Segoe UI Symbol"/>
              <a:buChar char="⚫"/>
              <a:tabLst>
                <a:tab pos="28384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should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specific,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clear,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testable.</a:t>
            </a:r>
            <a:endParaRPr sz="2200">
              <a:latin typeface="Times New Roman"/>
              <a:cs typeface="Times New Roman"/>
            </a:endParaRPr>
          </a:p>
          <a:p>
            <a:pPr marL="283845" indent="-271145">
              <a:lnSpc>
                <a:spcPts val="2375"/>
              </a:lnSpc>
              <a:buClr>
                <a:srgbClr val="0E6EC5"/>
              </a:buClr>
              <a:buSzPct val="84090"/>
              <a:buFont typeface="Segoe UI Symbol"/>
              <a:buChar char="⚫"/>
              <a:tabLst>
                <a:tab pos="28384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must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relevant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research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problem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capable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being</a:t>
            </a:r>
            <a:endParaRPr sz="2200">
              <a:latin typeface="Times New Roman"/>
              <a:cs typeface="Times New Roman"/>
            </a:endParaRPr>
          </a:p>
          <a:p>
            <a:pPr marL="283845">
              <a:lnSpc>
                <a:spcPts val="2375"/>
              </a:lnSpc>
            </a:pPr>
            <a:r>
              <a:rPr sz="2200" dirty="0">
                <a:latin typeface="Times New Roman"/>
                <a:cs typeface="Times New Roman"/>
              </a:rPr>
              <a:t>supported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refuted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analysis.</a:t>
            </a:r>
            <a:endParaRPr sz="2200">
              <a:latin typeface="Times New Roman"/>
              <a:cs typeface="Times New Roman"/>
            </a:endParaRPr>
          </a:p>
          <a:p>
            <a:pPr marL="283845" indent="-271145">
              <a:lnSpc>
                <a:spcPts val="2375"/>
              </a:lnSpc>
              <a:buClr>
                <a:srgbClr val="0E6EC5"/>
              </a:buClr>
              <a:buSzPct val="84090"/>
              <a:buFont typeface="Segoe UI Symbol"/>
              <a:buChar char="⚫"/>
              <a:tabLst>
                <a:tab pos="28384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should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structured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facilitates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effective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research</a:t>
            </a:r>
            <a:endParaRPr sz="2200">
              <a:latin typeface="Times New Roman"/>
              <a:cs typeface="Times New Roman"/>
            </a:endParaRPr>
          </a:p>
          <a:p>
            <a:pPr marL="283845">
              <a:lnSpc>
                <a:spcPts val="2375"/>
              </a:lnSpc>
            </a:pPr>
            <a:r>
              <a:rPr sz="2200" spc="-10" dirty="0">
                <a:latin typeface="Times New Roman"/>
                <a:cs typeface="Times New Roman"/>
              </a:rPr>
              <a:t>execution.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929462"/>
            <a:ext cx="7889875" cy="4637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Times New Roman"/>
                <a:cs typeface="Times New Roman"/>
              </a:rPr>
              <a:t>Situations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Where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Hypotheses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May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Not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Required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800">
              <a:latin typeface="Times New Roman"/>
              <a:cs typeface="Times New Roman"/>
            </a:endParaRPr>
          </a:p>
          <a:p>
            <a:pPr marL="373380" marR="593090" indent="-263525">
              <a:lnSpc>
                <a:spcPct val="100000"/>
              </a:lnSpc>
              <a:spcBef>
                <a:spcPts val="5"/>
              </a:spcBef>
              <a:buClr>
                <a:srgbClr val="0E6EC5"/>
              </a:buClr>
              <a:buSzPct val="83928"/>
              <a:buFont typeface="Segoe UI Symbol"/>
              <a:buChar char="⚫"/>
              <a:tabLst>
                <a:tab pos="37528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exploratory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formulative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research, 	</a:t>
            </a:r>
            <a:r>
              <a:rPr sz="2800" dirty="0">
                <a:latin typeface="Times New Roman"/>
                <a:cs typeface="Times New Roman"/>
              </a:rPr>
              <a:t>hypotheses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necessary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since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study 	</a:t>
            </a:r>
            <a:r>
              <a:rPr sz="2800" dirty="0">
                <a:latin typeface="Times New Roman"/>
                <a:cs typeface="Times New Roman"/>
              </a:rPr>
              <a:t>aims 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discovering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patterns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rather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testing 	assumptions.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90"/>
              </a:spcBef>
              <a:buClr>
                <a:srgbClr val="0E6EC5"/>
              </a:buClr>
              <a:buFont typeface="Segoe UI Symbol"/>
              <a:buChar char="⚫"/>
            </a:pPr>
            <a:endParaRPr sz="2800">
              <a:latin typeface="Times New Roman"/>
              <a:cs typeface="Times New Roman"/>
            </a:endParaRPr>
          </a:p>
          <a:p>
            <a:pPr marL="373380" marR="658495" indent="-263525">
              <a:lnSpc>
                <a:spcPct val="100000"/>
              </a:lnSpc>
              <a:buClr>
                <a:srgbClr val="0E6EC5"/>
              </a:buClr>
              <a:buSzPct val="83928"/>
              <a:buFont typeface="Segoe UI Symbol"/>
              <a:buChar char="⚫"/>
              <a:tabLst>
                <a:tab pos="375285" algn="l"/>
              </a:tabLst>
            </a:pPr>
            <a:r>
              <a:rPr sz="2800" spc="-10" dirty="0">
                <a:latin typeface="Times New Roman"/>
                <a:cs typeface="Times New Roman"/>
              </a:rPr>
              <a:t>However,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research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cases,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formulating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	</a:t>
            </a:r>
            <a:r>
              <a:rPr sz="2800" dirty="0">
                <a:latin typeface="Times New Roman"/>
                <a:cs typeface="Times New Roman"/>
              </a:rPr>
              <a:t>hypothesis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fundamental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step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	</a:t>
            </a:r>
            <a:r>
              <a:rPr sz="2800" dirty="0">
                <a:latin typeface="Times New Roman"/>
                <a:cs typeface="Times New Roman"/>
              </a:rPr>
              <a:t>systematic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inquiry.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6585" y="76022"/>
            <a:ext cx="132207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25" dirty="0">
                <a:latin typeface="Times New Roman"/>
                <a:cs typeface="Times New Roman"/>
              </a:rPr>
              <a:t>Variable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436" y="689228"/>
            <a:ext cx="8304530" cy="571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Variables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measurable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characteristics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attributes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across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individuals,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groups,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conditions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a </a:t>
            </a:r>
            <a:r>
              <a:rPr sz="1800" spc="-10" dirty="0">
                <a:latin typeface="Times New Roman"/>
                <a:cs typeface="Times New Roman"/>
              </a:rPr>
              <a:t>study.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</a:pP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fundamental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influencing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hypothesis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formulation,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collection,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endParaRPr sz="1800" dirty="0">
              <a:latin typeface="Times New Roman"/>
              <a:cs typeface="Times New Roman"/>
            </a:endParaRPr>
          </a:p>
          <a:p>
            <a:pPr marL="15240">
              <a:lnSpc>
                <a:spcPts val="1945"/>
              </a:lnSpc>
            </a:pPr>
            <a:r>
              <a:rPr sz="1800" spc="-10" dirty="0">
                <a:latin typeface="Times New Roman"/>
                <a:cs typeface="Times New Roman"/>
              </a:rPr>
              <a:t>analysis.</a:t>
            </a:r>
            <a:endParaRPr sz="1800" dirty="0">
              <a:latin typeface="Times New Roman"/>
              <a:cs typeface="Times New Roman"/>
            </a:endParaRPr>
          </a:p>
          <a:p>
            <a:pPr marL="12700" marR="215265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Times New Roman"/>
                <a:cs typeface="Times New Roman"/>
              </a:rPr>
              <a:t>Variables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involved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take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qualitative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values. </a:t>
            </a:r>
            <a:r>
              <a:rPr sz="1800" dirty="0">
                <a:latin typeface="Times New Roman"/>
                <a:cs typeface="Times New Roman"/>
              </a:rPr>
              <a:t>Ex.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Weight,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height,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income,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age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sz="1800" b="1" dirty="0">
                <a:latin typeface="Times New Roman"/>
                <a:cs typeface="Times New Roman"/>
              </a:rPr>
              <a:t>Independent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Variable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(IV)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Cause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manipulated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or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changed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observe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dependent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variable.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Example:</a:t>
            </a:r>
            <a:endParaRPr sz="1800" dirty="0">
              <a:latin typeface="Times New Roman"/>
              <a:cs typeface="Times New Roman"/>
            </a:endParaRPr>
          </a:p>
          <a:p>
            <a:pPr marL="133985" lvl="1" indent="-130175">
              <a:lnSpc>
                <a:spcPct val="100000"/>
              </a:lnSpc>
              <a:buClr>
                <a:srgbClr val="0AD0D9"/>
              </a:buClr>
              <a:buSzPct val="61111"/>
              <a:buFont typeface="Segoe UI Symbol"/>
              <a:buChar char="⚫"/>
              <a:tabLst>
                <a:tab pos="13398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(e.g.,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2.0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GHz,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3.0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GHz,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4.0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GHz).</a:t>
            </a:r>
            <a:endParaRPr sz="1800" dirty="0">
              <a:latin typeface="Times New Roman"/>
              <a:cs typeface="Times New Roman"/>
            </a:endParaRPr>
          </a:p>
          <a:p>
            <a:pPr marL="191135" lvl="1" indent="-178435">
              <a:lnSpc>
                <a:spcPct val="100000"/>
              </a:lnSpc>
              <a:buClr>
                <a:srgbClr val="0AD0D9"/>
              </a:buClr>
              <a:buSzPct val="61111"/>
              <a:buFont typeface="Segoe UI Symbol"/>
              <a:buChar char="⚫"/>
              <a:tabLst>
                <a:tab pos="191135" algn="l"/>
              </a:tabLst>
            </a:pPr>
            <a:r>
              <a:rPr sz="1800" dirty="0">
                <a:latin typeface="Times New Roman"/>
                <a:cs typeface="Times New Roman"/>
              </a:rPr>
              <a:t>Electric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independent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variable.</a:t>
            </a:r>
            <a:endParaRPr sz="1800" dirty="0">
              <a:latin typeface="Times New Roman"/>
              <a:cs typeface="Times New Roman"/>
            </a:endParaRPr>
          </a:p>
          <a:p>
            <a:pPr marL="133985" lvl="1" indent="-130175">
              <a:lnSpc>
                <a:spcPct val="100000"/>
              </a:lnSpc>
              <a:buClr>
                <a:srgbClr val="0AD0D9"/>
              </a:buClr>
              <a:buSzPct val="61111"/>
              <a:buFont typeface="Segoe UI Symbol"/>
              <a:buChar char="⚫"/>
              <a:tabLst>
                <a:tab pos="133985" algn="l"/>
              </a:tabLst>
            </a:pPr>
            <a:r>
              <a:rPr sz="1800" dirty="0">
                <a:latin typeface="Constantia"/>
                <a:cs typeface="Constantia"/>
              </a:rPr>
              <a:t>The</a:t>
            </a:r>
            <a:r>
              <a:rPr sz="1800" spc="-5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number</a:t>
            </a:r>
            <a:r>
              <a:rPr sz="1800" spc="-13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of</a:t>
            </a:r>
            <a:r>
              <a:rPr sz="1800" spc="4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hours</a:t>
            </a:r>
            <a:r>
              <a:rPr sz="1800" spc="-10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</a:t>
            </a:r>
            <a:r>
              <a:rPr sz="1800" spc="-9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student</a:t>
            </a:r>
            <a:r>
              <a:rPr sz="1800" spc="-8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studies.</a:t>
            </a:r>
            <a:endParaRPr sz="1800" dirty="0">
              <a:latin typeface="Constantia"/>
              <a:cs typeface="Constantia"/>
            </a:endParaRPr>
          </a:p>
          <a:p>
            <a:pPr marL="12700" marR="1426845" indent="227965">
              <a:lnSpc>
                <a:spcPct val="100000"/>
              </a:lnSpc>
              <a:spcBef>
                <a:spcPts val="2165"/>
              </a:spcBef>
              <a:buAutoNum type="arabicPeriod" startAt="2"/>
              <a:tabLst>
                <a:tab pos="240665" algn="l"/>
              </a:tabLst>
            </a:pPr>
            <a:r>
              <a:rPr sz="1800" b="1" dirty="0">
                <a:latin typeface="Times New Roman"/>
                <a:cs typeface="Times New Roman"/>
              </a:rPr>
              <a:t>Dependent</a:t>
            </a:r>
            <a:r>
              <a:rPr sz="1800" b="1" spc="-20" dirty="0">
                <a:latin typeface="Times New Roman"/>
                <a:cs typeface="Times New Roman"/>
              </a:rPr>
              <a:t> Variable</a:t>
            </a:r>
            <a:r>
              <a:rPr sz="1800" b="1" dirty="0">
                <a:latin typeface="Times New Roman"/>
                <a:cs typeface="Times New Roman"/>
              </a:rPr>
              <a:t> (DV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or </a:t>
            </a:r>
            <a:r>
              <a:rPr sz="1800" dirty="0">
                <a:latin typeface="Times New Roman"/>
                <a:cs typeface="Times New Roman"/>
              </a:rPr>
              <a:t>observed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independent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variable.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Example:</a:t>
            </a:r>
            <a:endParaRPr sz="1800" dirty="0">
              <a:latin typeface="Times New Roman"/>
              <a:cs typeface="Times New Roman"/>
            </a:endParaRPr>
          </a:p>
          <a:p>
            <a:pPr marL="133985" lvl="1" indent="-130175">
              <a:lnSpc>
                <a:spcPts val="1945"/>
              </a:lnSpc>
              <a:buClr>
                <a:srgbClr val="0AD0D9"/>
              </a:buClr>
              <a:buSzPct val="61111"/>
              <a:buFont typeface="Segoe UI Symbol"/>
              <a:buChar char="⚫"/>
              <a:tabLst>
                <a:tab pos="13398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 taken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compilation.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(Faster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processors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-10" dirty="0">
                <a:latin typeface="Times New Roman"/>
                <a:cs typeface="Times New Roman"/>
              </a:rPr>
              <a:t> reduce</a:t>
            </a:r>
            <a:endParaRPr sz="1800" dirty="0">
              <a:latin typeface="Times New Roman"/>
              <a:cs typeface="Times New Roman"/>
            </a:endParaRPr>
          </a:p>
          <a:p>
            <a:pPr marL="15240">
              <a:lnSpc>
                <a:spcPts val="1945"/>
              </a:lnSpc>
            </a:pPr>
            <a:r>
              <a:rPr sz="1800" dirty="0">
                <a:latin typeface="Times New Roman"/>
                <a:cs typeface="Times New Roman"/>
              </a:rPr>
              <a:t>compilation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time.)</a:t>
            </a:r>
            <a:endParaRPr sz="1800" dirty="0">
              <a:latin typeface="Times New Roman"/>
              <a:cs typeface="Times New Roman"/>
            </a:endParaRPr>
          </a:p>
          <a:p>
            <a:pPr marL="133985" lvl="1" indent="-13017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61111"/>
              <a:buFont typeface="Segoe UI Symbol"/>
              <a:buChar char="⚫"/>
              <a:tabLst>
                <a:tab pos="133985" algn="l"/>
              </a:tabLst>
            </a:pPr>
            <a:r>
              <a:rPr sz="1800" b="1" dirty="0">
                <a:latin typeface="Times New Roman"/>
                <a:cs typeface="Times New Roman"/>
              </a:rPr>
              <a:t>Light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dependent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variable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Independent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Eletricity)</a:t>
            </a:r>
            <a:endParaRPr sz="1800" dirty="0">
              <a:latin typeface="Times New Roman"/>
              <a:cs typeface="Times New Roman"/>
            </a:endParaRPr>
          </a:p>
          <a:p>
            <a:pPr marL="133985" lvl="1" indent="-130175">
              <a:lnSpc>
                <a:spcPct val="100000"/>
              </a:lnSpc>
              <a:buClr>
                <a:srgbClr val="0AD0D9"/>
              </a:buClr>
              <a:buSzPct val="61111"/>
              <a:buFont typeface="Segoe UI Symbol"/>
              <a:buChar char="⚫"/>
              <a:tabLst>
                <a:tab pos="133985" algn="l"/>
              </a:tabLst>
            </a:pPr>
            <a:r>
              <a:rPr sz="1800" dirty="0">
                <a:latin typeface="Constantia"/>
                <a:cs typeface="Constantia"/>
              </a:rPr>
              <a:t>The</a:t>
            </a:r>
            <a:r>
              <a:rPr sz="1800" spc="-6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marks</a:t>
            </a:r>
            <a:r>
              <a:rPr sz="1800" spc="-9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</a:t>
            </a:r>
            <a:r>
              <a:rPr sz="1800" spc="-10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student</a:t>
            </a:r>
            <a:r>
              <a:rPr sz="1800" spc="-9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scores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in</a:t>
            </a:r>
            <a:r>
              <a:rPr sz="1800" spc="-7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an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exam.</a:t>
            </a:r>
            <a:endParaRPr sz="18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121" y="150367"/>
            <a:ext cx="1132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imes New Roman"/>
                <a:cs typeface="Times New Roman"/>
              </a:rPr>
              <a:t>Variable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436" y="607263"/>
            <a:ext cx="8456295" cy="50298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0029" marR="186690" indent="-227329">
              <a:lnSpc>
                <a:spcPct val="80000"/>
              </a:lnSpc>
              <a:spcBef>
                <a:spcPts val="535"/>
              </a:spcBef>
              <a:buAutoNum type="arabicPeriod" startAt="3"/>
              <a:tabLst>
                <a:tab pos="287020" algn="l"/>
              </a:tabLst>
            </a:pPr>
            <a:r>
              <a:rPr sz="1800" b="1" dirty="0">
                <a:latin typeface="Times New Roman"/>
                <a:cs typeface="Times New Roman"/>
              </a:rPr>
              <a:t>Extraneous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Variable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(Uncontrolled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Factors)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unwanted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affect 	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outcome 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experiment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intentionally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studied.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Example: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background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running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during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compilation.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student’s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health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exam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day.</a:t>
            </a:r>
            <a:endParaRPr sz="1800">
              <a:latin typeface="Times New Roman"/>
              <a:cs typeface="Times New Roman"/>
            </a:endParaRPr>
          </a:p>
          <a:p>
            <a:pPr marL="12700" marR="217170" indent="215265">
              <a:lnSpc>
                <a:spcPct val="100000"/>
              </a:lnSpc>
              <a:spcBef>
                <a:spcPts val="1920"/>
              </a:spcBef>
              <a:buSzPct val="88888"/>
              <a:buAutoNum type="arabicPeriod" startAt="4"/>
              <a:tabLst>
                <a:tab pos="227965" algn="l"/>
              </a:tabLst>
            </a:pPr>
            <a:r>
              <a:rPr sz="1800" b="1" dirty="0">
                <a:latin typeface="Times New Roman"/>
                <a:cs typeface="Times New Roman"/>
              </a:rPr>
              <a:t>Moderating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Variable(Influences</a:t>
            </a:r>
            <a:r>
              <a:rPr sz="1800" b="1" spc="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Relationship) :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influences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strength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direction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relationship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independent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dependent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variables. </a:t>
            </a:r>
            <a:r>
              <a:rPr sz="1800" b="1" spc="-10" dirty="0">
                <a:latin typeface="Times New Roman"/>
                <a:cs typeface="Times New Roman"/>
              </a:rPr>
              <a:t>Example:</a:t>
            </a:r>
            <a:endParaRPr sz="1800">
              <a:latin typeface="Times New Roman"/>
              <a:cs typeface="Times New Roman"/>
            </a:endParaRPr>
          </a:p>
          <a:p>
            <a:pPr marL="287020" marR="124460" lvl="1" indent="-274320">
              <a:lnSpc>
                <a:spcPct val="8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"/>
              <a:buChar char="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efficiency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cooling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system.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better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cooling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processor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peak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longer.)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117"/>
              <a:buFont typeface="Wingdings"/>
              <a:buChar char=""/>
              <a:tabLst>
                <a:tab pos="286385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student's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motivation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level.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7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AutoNum type="arabicPeriod" startAt="5"/>
              <a:tabLst>
                <a:tab pos="240029" algn="l"/>
              </a:tabLst>
            </a:pPr>
            <a:r>
              <a:rPr sz="1800" b="1" dirty="0">
                <a:latin typeface="Times New Roman"/>
                <a:cs typeface="Times New Roman"/>
              </a:rPr>
              <a:t>Mediating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Variable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(Acts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Link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):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 that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explains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relationship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between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independent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variables.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Example:</a:t>
            </a:r>
            <a:endParaRPr sz="1800">
              <a:latin typeface="Times New Roman"/>
              <a:cs typeface="Times New Roman"/>
            </a:endParaRPr>
          </a:p>
          <a:p>
            <a:pPr marL="287020" marR="5080" lvl="1" indent="-274320">
              <a:lnSpc>
                <a:spcPts val="1730"/>
              </a:lnSpc>
              <a:spcBef>
                <a:spcPts val="42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test.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faster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improves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only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sufficient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available.)</a:t>
            </a:r>
            <a:endParaRPr sz="18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1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6385" algn="l"/>
              </a:tabLst>
            </a:pPr>
            <a:r>
              <a:rPr sz="1800" spc="-10" dirty="0">
                <a:latin typeface="Constantia"/>
                <a:cs typeface="Constantia"/>
              </a:rPr>
              <a:t>Quality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of</a:t>
            </a:r>
            <a:r>
              <a:rPr sz="1800" spc="-1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study</a:t>
            </a:r>
            <a:r>
              <a:rPr sz="1800" spc="-6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materials.</a:t>
            </a:r>
            <a:endParaRPr sz="18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2578" y="125984"/>
            <a:ext cx="145161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b="1" spc="-40" dirty="0">
                <a:latin typeface="Times New Roman"/>
                <a:cs typeface="Times New Roman"/>
              </a:rPr>
              <a:t>Variable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923" y="723087"/>
            <a:ext cx="8251825" cy="4720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160" indent="-251460">
              <a:lnSpc>
                <a:spcPct val="100000"/>
              </a:lnSpc>
              <a:spcBef>
                <a:spcPts val="95"/>
              </a:spcBef>
              <a:buAutoNum type="arabicPeriod" startAt="6"/>
              <a:tabLst>
                <a:tab pos="264160" algn="l"/>
              </a:tabLst>
            </a:pPr>
            <a:r>
              <a:rPr sz="2000" b="1" dirty="0">
                <a:latin typeface="Times New Roman"/>
                <a:cs typeface="Times New Roman"/>
              </a:rPr>
              <a:t>Control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Variable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(Kept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Constant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): 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kept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constant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ensure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experiment's accuracy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prevent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influencing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 used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compilation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(Ensures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speed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changing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factor.)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difficulty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exam.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Times New Roman"/>
              <a:cs typeface="Times New Roman"/>
            </a:endParaRPr>
          </a:p>
          <a:p>
            <a:pPr marL="15240" marR="125095" indent="-3175">
              <a:lnSpc>
                <a:spcPct val="80000"/>
              </a:lnSpc>
              <a:spcBef>
                <a:spcPts val="5"/>
              </a:spcBef>
              <a:buAutoNum type="arabicPeriod" startAt="7"/>
              <a:tabLst>
                <a:tab pos="15240" algn="l"/>
                <a:tab pos="263525" algn="l"/>
              </a:tabLst>
            </a:pPr>
            <a:r>
              <a:rPr sz="2000" b="1" dirty="0">
                <a:latin typeface="Times New Roman"/>
                <a:cs typeface="Times New Roman"/>
              </a:rPr>
              <a:t>	Continuous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Variable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(Numeric with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Infinite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Possibilities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):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take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numerical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range.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Example: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RAM used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4.5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GB,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8.2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GB,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16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GB)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Battery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laptop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45%,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78%,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99%).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264160" indent="-251460">
              <a:lnSpc>
                <a:spcPts val="2160"/>
              </a:lnSpc>
              <a:buAutoNum type="arabicPeriod" startAt="8"/>
              <a:tabLst>
                <a:tab pos="264160" algn="l"/>
              </a:tabLst>
            </a:pPr>
            <a:r>
              <a:rPr sz="2000" b="1" dirty="0">
                <a:latin typeface="Times New Roman"/>
                <a:cs typeface="Times New Roman"/>
              </a:rPr>
              <a:t>Categorical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Variable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(Distinct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Groups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):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distinct</a:t>
            </a:r>
            <a:endParaRPr sz="2000">
              <a:latin typeface="Times New Roman"/>
              <a:cs typeface="Times New Roman"/>
            </a:endParaRPr>
          </a:p>
          <a:p>
            <a:pPr marL="15240"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groups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Categories.</a:t>
            </a:r>
            <a:endParaRPr sz="2000">
              <a:latin typeface="Times New Roman"/>
              <a:cs typeface="Times New Roman"/>
            </a:endParaRPr>
          </a:p>
          <a:p>
            <a:pPr marL="15240" marR="877569" indent="-3175">
              <a:lnSpc>
                <a:spcPts val="1920"/>
              </a:lnSpc>
              <a:spcBef>
                <a:spcPts val="470"/>
              </a:spcBef>
              <a:tabLst>
                <a:tab pos="6394450" algn="l"/>
              </a:tabLst>
            </a:pPr>
            <a:r>
              <a:rPr sz="2000" b="1" dirty="0">
                <a:latin typeface="Times New Roman"/>
                <a:cs typeface="Times New Roman"/>
              </a:rPr>
              <a:t>Example: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(Windows,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macOS,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Linux),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Gender (Male/Female/Other),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(Python,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Java,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C++).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7925" y="474929"/>
            <a:ext cx="4460240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00" b="1" dirty="0">
                <a:latin typeface="Times New Roman"/>
                <a:cs typeface="Times New Roman"/>
              </a:rPr>
              <a:t>Importance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in</a:t>
            </a:r>
            <a:r>
              <a:rPr sz="3400" b="1" spc="-2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Research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985886"/>
            <a:ext cx="7760334" cy="454850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55575" indent="-149225">
              <a:lnSpc>
                <a:spcPct val="100000"/>
              </a:lnSpc>
              <a:spcBef>
                <a:spcPts val="730"/>
              </a:spcBef>
              <a:buClr>
                <a:srgbClr val="0AD0D9"/>
              </a:buClr>
              <a:buSzPct val="90384"/>
              <a:buFont typeface="Wingdings"/>
              <a:buChar char=""/>
              <a:tabLst>
                <a:tab pos="155575" algn="l"/>
              </a:tabLst>
            </a:pPr>
            <a:r>
              <a:rPr sz="2600" dirty="0">
                <a:latin typeface="Constantia"/>
                <a:cs typeface="Constantia"/>
              </a:rPr>
              <a:t>It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helps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to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define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the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research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problem.</a:t>
            </a:r>
            <a:endParaRPr sz="2600">
              <a:latin typeface="Constantia"/>
              <a:cs typeface="Constantia"/>
            </a:endParaRPr>
          </a:p>
          <a:p>
            <a:pPr marL="155575" indent="-14922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"/>
              <a:tabLst>
                <a:tab pos="155575" algn="l"/>
              </a:tabLst>
            </a:pPr>
            <a:r>
              <a:rPr sz="2600" dirty="0">
                <a:latin typeface="Constantia"/>
                <a:cs typeface="Constantia"/>
              </a:rPr>
              <a:t>It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helps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to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formulate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hypotheses.</a:t>
            </a:r>
            <a:endParaRPr sz="2600">
              <a:latin typeface="Constantia"/>
              <a:cs typeface="Constantia"/>
            </a:endParaRPr>
          </a:p>
          <a:p>
            <a:pPr marL="155575" indent="-14922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"/>
              <a:tabLst>
                <a:tab pos="155575" algn="l"/>
              </a:tabLst>
            </a:pPr>
            <a:r>
              <a:rPr sz="2600" dirty="0">
                <a:latin typeface="Constantia"/>
                <a:cs typeface="Constantia"/>
              </a:rPr>
              <a:t>It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helps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to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choose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appropriate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data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collection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and</a:t>
            </a:r>
            <a:endParaRPr sz="2600">
              <a:latin typeface="Constantia"/>
              <a:cs typeface="Constantia"/>
            </a:endParaRPr>
          </a:p>
          <a:p>
            <a:pPr marL="155575" indent="-14922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"/>
              <a:tabLst>
                <a:tab pos="155575" algn="l"/>
              </a:tabLst>
            </a:pPr>
            <a:r>
              <a:rPr sz="2600" spc="-10" dirty="0">
                <a:latin typeface="Constantia"/>
                <a:cs typeface="Constantia"/>
              </a:rPr>
              <a:t>analysis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methods.</a:t>
            </a:r>
            <a:endParaRPr sz="2600">
              <a:latin typeface="Constantia"/>
              <a:cs typeface="Constantia"/>
            </a:endParaRPr>
          </a:p>
          <a:p>
            <a:pPr marL="15240" marR="5080" indent="-952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"/>
              <a:tabLst>
                <a:tab pos="15240" algn="l"/>
                <a:tab pos="154940" algn="l"/>
              </a:tabLst>
            </a:pPr>
            <a:r>
              <a:rPr sz="2600" spc="-40" dirty="0">
                <a:latin typeface="Constantia"/>
                <a:cs typeface="Constantia"/>
              </a:rPr>
              <a:t>	It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ensures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35" dirty="0">
                <a:latin typeface="Constantia"/>
                <a:cs typeface="Constantia"/>
              </a:rPr>
              <a:t>validity,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30" dirty="0">
                <a:latin typeface="Constantia"/>
                <a:cs typeface="Constantia"/>
              </a:rPr>
              <a:t>reliability,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and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accuracy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of </a:t>
            </a:r>
            <a:r>
              <a:rPr sz="2600" spc="-10" dirty="0">
                <a:latin typeface="Constantia"/>
                <a:cs typeface="Constantia"/>
              </a:rPr>
              <a:t>research findings.</a:t>
            </a:r>
            <a:endParaRPr sz="2600">
              <a:latin typeface="Constantia"/>
              <a:cs typeface="Constantia"/>
            </a:endParaRPr>
          </a:p>
          <a:p>
            <a:pPr marL="15240" marR="676910" indent="-952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0384"/>
              <a:buFont typeface="Wingdings"/>
              <a:buChar char=""/>
              <a:tabLst>
                <a:tab pos="15240" algn="l"/>
                <a:tab pos="154940" algn="l"/>
              </a:tabLst>
            </a:pPr>
            <a:r>
              <a:rPr sz="2600" dirty="0">
                <a:latin typeface="Constantia"/>
                <a:cs typeface="Constantia"/>
              </a:rPr>
              <a:t>	It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is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crucial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for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statistical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testing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and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establishing relationships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between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factors.</a:t>
            </a:r>
            <a:endParaRPr sz="2600">
              <a:latin typeface="Constantia"/>
              <a:cs typeface="Constantia"/>
            </a:endParaRPr>
          </a:p>
          <a:p>
            <a:pPr marL="15240" marR="612775" indent="-9525">
              <a:lnSpc>
                <a:spcPct val="100800"/>
              </a:lnSpc>
              <a:spcBef>
                <a:spcPts val="600"/>
              </a:spcBef>
              <a:buClr>
                <a:srgbClr val="0AD0D9"/>
              </a:buClr>
              <a:buSzPct val="90384"/>
              <a:buFont typeface="Wingdings"/>
              <a:buChar char=""/>
              <a:tabLst>
                <a:tab pos="15240" algn="l"/>
                <a:tab pos="154940" algn="l"/>
              </a:tabLst>
            </a:pPr>
            <a:r>
              <a:rPr sz="2600" dirty="0">
                <a:latin typeface="Constantia"/>
                <a:cs typeface="Constantia"/>
              </a:rPr>
              <a:t>	It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helps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in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designing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structured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and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meaningful research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study.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445" y="802589"/>
            <a:ext cx="7988300" cy="4467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6065" algn="ctr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Times New Roman"/>
                <a:cs typeface="Times New Roman"/>
              </a:rPr>
              <a:t>Key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Considerations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Research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800">
              <a:latin typeface="Times New Roman"/>
              <a:cs typeface="Times New Roman"/>
            </a:endParaRPr>
          </a:p>
          <a:p>
            <a:pPr marL="198120" indent="-19558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60714"/>
              <a:buFont typeface="Segoe UI Symbol"/>
              <a:buChar char="⚫"/>
              <a:tabLst>
                <a:tab pos="198120" algn="l"/>
              </a:tabLst>
            </a:pP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collection</a:t>
            </a:r>
            <a:endParaRPr sz="2800">
              <a:latin typeface="Times New Roman"/>
              <a:cs typeface="Times New Roman"/>
            </a:endParaRPr>
          </a:p>
          <a:p>
            <a:pPr marL="198120" indent="-19558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60714"/>
              <a:buFont typeface="Segoe UI Symbol"/>
              <a:buChar char="⚫"/>
              <a:tabLst>
                <a:tab pos="198120" algn="l"/>
              </a:tabLst>
            </a:pPr>
            <a:r>
              <a:rPr sz="2800" spc="-20" dirty="0">
                <a:latin typeface="Times New Roman"/>
                <a:cs typeface="Times New Roman"/>
              </a:rPr>
              <a:t>Availability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expertise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researchers</a:t>
            </a:r>
            <a:endParaRPr sz="2800">
              <a:latin typeface="Times New Roman"/>
              <a:cs typeface="Times New Roman"/>
            </a:endParaRPr>
          </a:p>
          <a:p>
            <a:pPr marL="198120" indent="-194945">
              <a:lnSpc>
                <a:spcPct val="100000"/>
              </a:lnSpc>
              <a:spcBef>
                <a:spcPts val="670"/>
              </a:spcBef>
              <a:buClr>
                <a:srgbClr val="0AD0D9"/>
              </a:buClr>
              <a:buSzPct val="60714"/>
              <a:buFont typeface="Segoe UI Symbol"/>
              <a:buChar char="⚫"/>
              <a:tabLst>
                <a:tab pos="198120" algn="l"/>
              </a:tabLst>
            </a:pPr>
            <a:r>
              <a:rPr sz="2800" dirty="0">
                <a:latin typeface="Times New Roman"/>
                <a:cs typeface="Times New Roman"/>
              </a:rPr>
              <a:t>Organization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justification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chosen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methods</a:t>
            </a:r>
            <a:endParaRPr sz="2800">
              <a:latin typeface="Times New Roman"/>
              <a:cs typeface="Times New Roman"/>
            </a:endParaRPr>
          </a:p>
          <a:p>
            <a:pPr marL="198120" indent="-194945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60714"/>
              <a:buFont typeface="Segoe UI Symbol"/>
              <a:buChar char="⚫"/>
              <a:tabLst>
                <a:tab pos="198120" algn="l"/>
              </a:tabLst>
            </a:pP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constraints</a:t>
            </a:r>
            <a:endParaRPr sz="2800">
              <a:latin typeface="Times New Roman"/>
              <a:cs typeface="Times New Roman"/>
            </a:endParaRPr>
          </a:p>
          <a:p>
            <a:pPr marL="198120" indent="-194945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60714"/>
              <a:buFont typeface="Segoe UI Symbol"/>
              <a:buChar char="⚫"/>
              <a:tabLst>
                <a:tab pos="198120" algn="l"/>
              </a:tabLst>
            </a:pPr>
            <a:r>
              <a:rPr sz="2800" dirty="0">
                <a:latin typeface="Times New Roman"/>
                <a:cs typeface="Times New Roman"/>
              </a:rPr>
              <a:t>Financial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resources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available</a:t>
            </a:r>
            <a:endParaRPr sz="2800">
              <a:latin typeface="Times New Roman"/>
              <a:cs typeface="Times New Roman"/>
            </a:endParaRPr>
          </a:p>
          <a:p>
            <a:pPr marL="12700" marR="5080" indent="-1016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60714"/>
              <a:buFont typeface="Segoe UI Symbol"/>
              <a:buChar char="⚫"/>
              <a:tabLst>
                <a:tab pos="198120" algn="l"/>
              </a:tabLst>
            </a:pPr>
            <a:r>
              <a:rPr sz="2800" dirty="0">
                <a:latin typeface="Times New Roman"/>
                <a:cs typeface="Times New Roman"/>
              </a:rPr>
              <a:t>	A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well-</a:t>
            </a:r>
            <a:r>
              <a:rPr sz="2800" dirty="0">
                <a:latin typeface="Times New Roman"/>
                <a:cs typeface="Times New Roman"/>
              </a:rPr>
              <a:t>structured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research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reliable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results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resources.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2571" y="379221"/>
            <a:ext cx="2048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Collection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0375" y="744677"/>
            <a:ext cx="8413750" cy="5193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gathering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various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sources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make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informed decisions.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essential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business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 improvements.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1600" b="1" spc="-20" dirty="0">
                <a:latin typeface="Times New Roman"/>
                <a:cs typeface="Times New Roman"/>
              </a:rPr>
              <a:t>Types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Collection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1.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Primary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Collection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(First-</a:t>
            </a:r>
            <a:r>
              <a:rPr sz="1600" b="1" dirty="0">
                <a:latin typeface="Times New Roman"/>
                <a:cs typeface="Times New Roman"/>
              </a:rPr>
              <a:t>hand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Data)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: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collected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 sources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specific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purpose.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Methods: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Observation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Watching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recording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behaviors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(e.g.,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monitoring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activity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website).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Surveys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Questionnaires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Asking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questions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target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audience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(e.g.,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collecting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customer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feedback).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Interviews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conversation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individuals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gather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insights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(e.g.,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interviewing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software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Times New Roman"/>
                <a:cs typeface="Times New Roman"/>
              </a:rPr>
              <a:t>developers).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Experiments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Conducting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observe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cause-</a:t>
            </a:r>
            <a:r>
              <a:rPr sz="1600" dirty="0">
                <a:latin typeface="Times New Roman"/>
                <a:cs typeface="Times New Roman"/>
              </a:rPr>
              <a:t>effect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relationships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(e.g.,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performance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devices).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Focus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Groups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Group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discussions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gather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opinions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(e.g.,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discussing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UI/UX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design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improvements).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496" y="1327236"/>
            <a:ext cx="8743315" cy="3648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355" indent="304800">
              <a:lnSpc>
                <a:spcPct val="110000"/>
              </a:lnSpc>
              <a:spcBef>
                <a:spcPts val="95"/>
              </a:spcBef>
              <a:buAutoNum type="arabicPeriod" startAt="2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Secondary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Collection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(Pre-</a:t>
            </a:r>
            <a:r>
              <a:rPr sz="2400" b="1" dirty="0">
                <a:latin typeface="Times New Roman"/>
                <a:cs typeface="Times New Roman"/>
              </a:rPr>
              <a:t>existing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Data)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others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analysis.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Font typeface="Times New Roman"/>
              <a:buAutoNum type="arabicPeriod" startAt="2"/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Sources:</a:t>
            </a:r>
            <a:endParaRPr sz="24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290"/>
              </a:spcBef>
              <a:buSzPct val="93750"/>
              <a:buFont typeface="Arial MT"/>
              <a:buChar char="•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Books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Papers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Referring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published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academic</a:t>
            </a:r>
            <a:r>
              <a:rPr sz="2400" spc="-10" dirty="0">
                <a:latin typeface="Times New Roman"/>
                <a:cs typeface="Times New Roman"/>
              </a:rPr>
              <a:t> studies.</a:t>
            </a:r>
            <a:endParaRPr sz="24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290"/>
              </a:spcBef>
              <a:buSzPct val="93750"/>
              <a:buFont typeface="Arial MT"/>
              <a:buChar char="•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Government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Reports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census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official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analysis.</a:t>
            </a:r>
            <a:endParaRPr sz="24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290"/>
              </a:spcBef>
              <a:buSzPct val="93750"/>
              <a:buFont typeface="Arial MT"/>
              <a:buChar char="•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Company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Records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historical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290"/>
              </a:spcBef>
              <a:buSzPct val="93750"/>
              <a:buFont typeface="Arial MT"/>
              <a:buChar char="•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Online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repositories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IEEE,</a:t>
            </a:r>
            <a:endParaRPr sz="2400">
              <a:latin typeface="Times New Roman"/>
              <a:cs typeface="Times New Roman"/>
            </a:endParaRPr>
          </a:p>
          <a:p>
            <a:pPr marL="286385" lvl="1" indent="-273685">
              <a:lnSpc>
                <a:spcPct val="100000"/>
              </a:lnSpc>
              <a:spcBef>
                <a:spcPts val="290"/>
              </a:spcBef>
              <a:buSzPct val="93750"/>
              <a:buFont typeface="Arial MT"/>
              <a:buChar char="•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Google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Scholar,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GitHub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logs.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29032"/>
            <a:ext cx="47415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Determining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sample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design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8488" y="739520"/>
            <a:ext cx="8478520" cy="5604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Sampling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individuals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characterize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whole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population</a:t>
            </a:r>
            <a:r>
              <a:rPr sz="2000" b="1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members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specified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group,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possible </a:t>
            </a:r>
            <a:r>
              <a:rPr sz="2000" dirty="0">
                <a:latin typeface="Times New Roman"/>
                <a:cs typeface="Times New Roman"/>
              </a:rPr>
              <a:t>outcomes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measurements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interest.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exact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depend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scope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study.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observations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drawn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subset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elements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participated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study.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Example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COVID-</a:t>
            </a:r>
            <a:r>
              <a:rPr sz="2000" dirty="0">
                <a:latin typeface="Times New Roman"/>
                <a:cs typeface="Times New Roman"/>
              </a:rPr>
              <a:t>19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vaccine clinical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trials.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6096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sample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pre-</a:t>
            </a:r>
            <a:r>
              <a:rPr sz="2000" dirty="0">
                <a:latin typeface="Times New Roman"/>
                <a:cs typeface="Times New Roman"/>
              </a:rPr>
              <a:t>determined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given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purposes.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84215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Types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Designs: </a:t>
            </a:r>
            <a:r>
              <a:rPr sz="2000" dirty="0">
                <a:latin typeface="Times New Roman"/>
                <a:cs typeface="Times New Roman"/>
              </a:rPr>
              <a:t>Probability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 </a:t>
            </a:r>
            <a:r>
              <a:rPr sz="2000" spc="-20" dirty="0">
                <a:latin typeface="Times New Roman"/>
                <a:cs typeface="Times New Roman"/>
              </a:rPr>
              <a:t>Non-</a:t>
            </a:r>
            <a:r>
              <a:rPr sz="2000" dirty="0">
                <a:latin typeface="Times New Roman"/>
                <a:cs typeface="Times New Roman"/>
              </a:rPr>
              <a:t>Probability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Sampling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Techniques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116" y="482600"/>
            <a:ext cx="7670165" cy="631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390"/>
              </a:lnSpc>
              <a:spcBef>
                <a:spcPts val="90"/>
              </a:spcBef>
            </a:pPr>
            <a:r>
              <a:rPr sz="2000" b="1" spc="-20" dirty="0">
                <a:latin typeface="Times New Roman"/>
                <a:cs typeface="Times New Roman"/>
              </a:rPr>
              <a:t>Validity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Reliability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Internal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validity,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External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Validity,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Construct</a:t>
            </a:r>
            <a:endParaRPr sz="2000">
              <a:latin typeface="Times New Roman"/>
              <a:cs typeface="Times New Roman"/>
            </a:endParaRPr>
          </a:p>
          <a:p>
            <a:pPr marL="8890" algn="ctr">
              <a:lnSpc>
                <a:spcPts val="2390"/>
              </a:lnSpc>
            </a:pPr>
            <a:r>
              <a:rPr sz="2000" b="1" spc="-10" dirty="0">
                <a:latin typeface="Times New Roman"/>
                <a:cs typeface="Times New Roman"/>
              </a:rPr>
              <a:t>validity,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reliability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Consistency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412189"/>
            <a:ext cx="8392160" cy="362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Validity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Reliability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crucial aspects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methodology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ensure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accuracy,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consistency,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credibility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10" dirty="0">
                <a:latin typeface="Times New Roman"/>
                <a:cs typeface="Times New Roman"/>
              </a:rPr>
              <a:t> findings.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valid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reliable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meaningful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generalizable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results.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Validity</a:t>
            </a:r>
            <a:r>
              <a:rPr sz="2000" b="1" spc="28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sz="1800" spc="-20" dirty="0">
                <a:latin typeface="Times New Roman"/>
                <a:cs typeface="Times New Roman"/>
              </a:rPr>
              <a:t>Validity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instrument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measures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intended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measure.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determines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accuracy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appropriateness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conclusions.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study </a:t>
            </a:r>
            <a:r>
              <a:rPr sz="1800" dirty="0">
                <a:latin typeface="Times New Roman"/>
                <a:cs typeface="Times New Roman"/>
              </a:rPr>
              <a:t>lacks</a:t>
            </a:r>
            <a:r>
              <a:rPr sz="1800" spc="-10" dirty="0">
                <a:latin typeface="Times New Roman"/>
                <a:cs typeface="Times New Roman"/>
              </a:rPr>
              <a:t> validity,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misleading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irrelevant.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measurement</a:t>
            </a:r>
            <a:r>
              <a:rPr sz="1800" spc="4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properties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height,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weight,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length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validated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easily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 be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measured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devices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available.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measurement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abstract properties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attitude,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morale,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motivation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indirect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needs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proper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633425"/>
            <a:ext cx="8388350" cy="3684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35" dirty="0">
                <a:latin typeface="Times New Roman"/>
                <a:cs typeface="Times New Roman"/>
              </a:rPr>
              <a:t>Two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forms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Validity</a:t>
            </a:r>
            <a:endParaRPr sz="2000">
              <a:latin typeface="Times New Roman"/>
              <a:cs typeface="Times New Roman"/>
            </a:endParaRPr>
          </a:p>
          <a:p>
            <a:pPr marL="323215" indent="-310515">
              <a:lnSpc>
                <a:spcPct val="100000"/>
              </a:lnSpc>
              <a:buAutoNum type="alphaUcPeriod"/>
              <a:tabLst>
                <a:tab pos="323215" algn="l"/>
              </a:tabLst>
            </a:pPr>
            <a:r>
              <a:rPr sz="2000" b="1" dirty="0">
                <a:latin typeface="Times New Roman"/>
                <a:cs typeface="Times New Roman"/>
              </a:rPr>
              <a:t>Internal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Validity</a:t>
            </a:r>
            <a:endParaRPr sz="2000">
              <a:latin typeface="Times New Roman"/>
              <a:cs typeface="Times New Roman"/>
            </a:endParaRPr>
          </a:p>
          <a:p>
            <a:pPr marL="12700" marR="13271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focuses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accurately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establishes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cause-</a:t>
            </a:r>
            <a:r>
              <a:rPr sz="2000" spc="-20" dirty="0">
                <a:latin typeface="Times New Roman"/>
                <a:cs typeface="Times New Roman"/>
              </a:rPr>
              <a:t>and- </a:t>
            </a:r>
            <a:r>
              <a:rPr sz="2000" dirty="0">
                <a:latin typeface="Times New Roman"/>
                <a:cs typeface="Times New Roman"/>
              </a:rPr>
              <a:t>effect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relationship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variables.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changes 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dependent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independent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influenced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 </a:t>
            </a:r>
            <a:r>
              <a:rPr sz="2000" dirty="0">
                <a:latin typeface="Times New Roman"/>
                <a:cs typeface="Times New Roman"/>
              </a:rPr>
              <a:t>extraneous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factors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0">
              <a:latin typeface="Times New Roman"/>
              <a:cs typeface="Times New Roman"/>
            </a:endParaRPr>
          </a:p>
          <a:p>
            <a:pPr marL="307975" indent="-295275">
              <a:lnSpc>
                <a:spcPct val="100000"/>
              </a:lnSpc>
              <a:spcBef>
                <a:spcPts val="5"/>
              </a:spcBef>
              <a:buAutoNum type="alphaUcPeriod" startAt="2"/>
              <a:tabLst>
                <a:tab pos="307975" algn="l"/>
              </a:tabLst>
            </a:pPr>
            <a:r>
              <a:rPr sz="2000" b="1" dirty="0">
                <a:latin typeface="Times New Roman"/>
                <a:cs typeface="Times New Roman"/>
              </a:rPr>
              <a:t>External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Validity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External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findings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generalized </a:t>
            </a:r>
            <a:r>
              <a:rPr sz="2000" dirty="0">
                <a:latin typeface="Times New Roman"/>
                <a:cs typeface="Times New Roman"/>
              </a:rPr>
              <a:t>beyond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context.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 </a:t>
            </a:r>
            <a:r>
              <a:rPr sz="2000" dirty="0">
                <a:latin typeface="Times New Roman"/>
                <a:cs typeface="Times New Roman"/>
              </a:rPr>
              <a:t>populations,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settings,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633425"/>
            <a:ext cx="3194685" cy="154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0" dirty="0">
                <a:latin typeface="Times New Roman"/>
                <a:cs typeface="Times New Roman"/>
              </a:rPr>
              <a:t>Types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Validity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469900" algn="l"/>
              </a:tabLst>
            </a:pPr>
            <a:r>
              <a:rPr sz="2000" spc="-25" dirty="0">
                <a:latin typeface="Constantia"/>
                <a:cs typeface="Constantia"/>
              </a:rPr>
              <a:t>Content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validity</a:t>
            </a:r>
            <a:endParaRPr sz="2000">
              <a:latin typeface="Constantia"/>
              <a:cs typeface="Constantia"/>
            </a:endParaRPr>
          </a:p>
          <a:p>
            <a:pPr marL="469900" indent="-457200">
              <a:lnSpc>
                <a:spcPct val="100000"/>
              </a:lnSpc>
              <a:buAutoNum type="arabicParenR"/>
              <a:tabLst>
                <a:tab pos="469900" algn="l"/>
              </a:tabLst>
            </a:pPr>
            <a:r>
              <a:rPr sz="2000" spc="-10" dirty="0">
                <a:latin typeface="Constantia"/>
                <a:cs typeface="Constantia"/>
              </a:rPr>
              <a:t>Criterion-</a:t>
            </a:r>
            <a:r>
              <a:rPr sz="2000" spc="-20" dirty="0">
                <a:latin typeface="Constantia"/>
                <a:cs typeface="Constantia"/>
              </a:rPr>
              <a:t>related</a:t>
            </a:r>
            <a:r>
              <a:rPr sz="2000" spc="-4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validity</a:t>
            </a:r>
            <a:endParaRPr sz="2000">
              <a:latin typeface="Constantia"/>
              <a:cs typeface="Constantia"/>
            </a:endParaRPr>
          </a:p>
          <a:p>
            <a:pPr marL="469900" indent="-457200">
              <a:lnSpc>
                <a:spcPct val="100000"/>
              </a:lnSpc>
              <a:buAutoNum type="arabicParenR"/>
              <a:tabLst>
                <a:tab pos="469900" algn="l"/>
              </a:tabLst>
            </a:pPr>
            <a:r>
              <a:rPr sz="2000" spc="-10" dirty="0">
                <a:latin typeface="Constantia"/>
                <a:cs typeface="Constantia"/>
              </a:rPr>
              <a:t>Construct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validity.</a:t>
            </a:r>
            <a:endParaRPr sz="20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496" y="328929"/>
            <a:ext cx="276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1)</a:t>
            </a:r>
            <a:r>
              <a:rPr sz="2400" b="1" dirty="0">
                <a:latin typeface="Times New Roman"/>
                <a:cs typeface="Times New Roman"/>
              </a:rPr>
              <a:t>	Content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validity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496" y="1060526"/>
            <a:ext cx="8681085" cy="405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9231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instrument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provides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adequate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coverage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study.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instrument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representative sample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universe,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20" dirty="0">
                <a:latin typeface="Times New Roman"/>
                <a:cs typeface="Times New Roman"/>
              </a:rPr>
              <a:t>good.</a:t>
            </a:r>
            <a:endParaRPr sz="2400">
              <a:latin typeface="Times New Roman"/>
              <a:cs typeface="Times New Roman"/>
            </a:endParaRPr>
          </a:p>
          <a:p>
            <a:pPr marL="12700" marR="149225">
              <a:lnSpc>
                <a:spcPct val="100000"/>
              </a:lnSpc>
              <a:tabLst>
                <a:tab pos="3927475" algn="l"/>
              </a:tabLst>
            </a:pP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primarily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judgemental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intuitive.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determined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panel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persons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shall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judge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measuring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meets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numerical </a:t>
            </a:r>
            <a:r>
              <a:rPr sz="2400" dirty="0">
                <a:latin typeface="Times New Roman"/>
                <a:cs typeface="Times New Roman"/>
              </a:rPr>
              <a:t>way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express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degree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validity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primarily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knowledge,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skill</a:t>
            </a:r>
            <a:endParaRPr sz="24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judgement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designer and/or </a:t>
            </a:r>
            <a:r>
              <a:rPr sz="2400" spc="-10" dirty="0">
                <a:latin typeface="Times New Roman"/>
                <a:cs typeface="Times New Roman"/>
              </a:rPr>
              <a:t>judges.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877950"/>
            <a:ext cx="8269605" cy="5208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25" dirty="0">
                <a:latin typeface="Times New Roman"/>
                <a:cs typeface="Times New Roman"/>
              </a:rPr>
              <a:t>Ex.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Times New Roman"/>
                <a:cs typeface="Times New Roman"/>
              </a:rPr>
              <a:t>Concept: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covers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all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important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topics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supposed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measure.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MCA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professor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“Advanced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Management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”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assess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students'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knowledge.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content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validity: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questions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SQL, normalization,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indexing, transactions,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covers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topics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 the</a:t>
            </a:r>
            <a:r>
              <a:rPr sz="2000" spc="-10" dirty="0">
                <a:latin typeface="Times New Roman"/>
                <a:cs typeface="Times New Roman"/>
              </a:rPr>
              <a:t> syllabus.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lacks content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validity:</a:t>
            </a:r>
            <a:endParaRPr sz="2000">
              <a:latin typeface="Times New Roman"/>
              <a:cs typeface="Times New Roman"/>
            </a:endParaRPr>
          </a:p>
          <a:p>
            <a:pPr marL="12700" marR="16383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ignores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security. </a:t>
            </a:r>
            <a:r>
              <a:rPr sz="2000" dirty="0">
                <a:latin typeface="Times New Roman"/>
                <a:cs typeface="Times New Roman"/>
              </a:rPr>
              <a:t>Important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topics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syllabus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missing.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328930"/>
            <a:ext cx="8418830" cy="3683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2)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Criterion-</a:t>
            </a:r>
            <a:r>
              <a:rPr sz="2000" b="1" dirty="0">
                <a:latin typeface="Times New Roman"/>
                <a:cs typeface="Times New Roman"/>
              </a:rPr>
              <a:t>related</a:t>
            </a:r>
            <a:r>
              <a:rPr sz="2000" b="1" spc="47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ability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predict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outcome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estimate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existence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condition.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reflects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success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used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empirical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estimating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purpose.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concerned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criterion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possess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qualities: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Relevance: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criterion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relevant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judge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proper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measure.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Freedom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bias: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(Freedom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bias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attained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criterion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each</a:t>
            </a:r>
            <a:endParaRPr sz="20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subject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 equal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opportunity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well.)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Reliability: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criterion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reproducible.</a:t>
            </a:r>
            <a:endParaRPr sz="2000">
              <a:latin typeface="Times New Roman"/>
              <a:cs typeface="Times New Roman"/>
            </a:endParaRPr>
          </a:p>
          <a:p>
            <a:pPr marL="12700" marR="862965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Availability: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criterion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 be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available.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fact,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Criterion-</a:t>
            </a:r>
            <a:r>
              <a:rPr sz="2000" dirty="0">
                <a:latin typeface="Times New Roman"/>
                <a:cs typeface="Times New Roman"/>
              </a:rPr>
              <a:t>related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broad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actually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25" dirty="0">
                <a:latin typeface="Times New Roman"/>
                <a:cs typeface="Times New Roman"/>
              </a:rPr>
              <a:t> 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4597730"/>
            <a:ext cx="3359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0" dirty="0">
                <a:latin typeface="Times New Roman"/>
                <a:cs typeface="Times New Roman"/>
              </a:rPr>
              <a:t>(ii)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3987749"/>
            <a:ext cx="82473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685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(i)</a:t>
            </a:r>
            <a:r>
              <a:rPr sz="2000" b="1" dirty="0">
                <a:latin typeface="Times New Roman"/>
                <a:cs typeface="Times New Roman"/>
              </a:rPr>
              <a:t>	Predictive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validity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usefulness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predicting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some</a:t>
            </a:r>
            <a:endParaRPr sz="20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performance.</a:t>
            </a:r>
            <a:endParaRPr sz="20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  <a:tabLst>
                <a:tab pos="2948940" algn="l"/>
              </a:tabLst>
            </a:pPr>
            <a:r>
              <a:rPr sz="2000" b="1" dirty="0">
                <a:latin typeface="Times New Roman"/>
                <a:cs typeface="Times New Roman"/>
              </a:rPr>
              <a:t>Concurrent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validity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usefulness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closely</a:t>
            </a:r>
            <a:r>
              <a:rPr sz="2000" spc="-10" dirty="0">
                <a:latin typeface="Times New Roman"/>
                <a:cs typeface="Times New Roman"/>
              </a:rPr>
              <a:t> relating</a:t>
            </a:r>
            <a:endParaRPr sz="20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validity.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5207584"/>
            <a:ext cx="838708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Criterion-</a:t>
            </a:r>
            <a:r>
              <a:rPr sz="2000" dirty="0">
                <a:latin typeface="Times New Roman"/>
                <a:cs typeface="Times New Roman"/>
              </a:rPr>
              <a:t>related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coefficient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correlation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 </a:t>
            </a:r>
            <a:r>
              <a:rPr sz="2000" spc="-20" dirty="0">
                <a:latin typeface="Times New Roman"/>
                <a:cs typeface="Times New Roman"/>
              </a:rPr>
              <a:t>test </a:t>
            </a:r>
            <a:r>
              <a:rPr sz="2000" dirty="0">
                <a:latin typeface="Times New Roman"/>
                <a:cs typeface="Times New Roman"/>
              </a:rPr>
              <a:t>scores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scores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scores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validity.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360045"/>
            <a:ext cx="8345170" cy="469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Simplified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Example of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Criterion-</a:t>
            </a:r>
            <a:r>
              <a:rPr sz="1800" b="1" dirty="0">
                <a:latin typeface="Times New Roman"/>
                <a:cs typeface="Times New Roman"/>
              </a:rPr>
              <a:t>Related</a:t>
            </a:r>
            <a:r>
              <a:rPr sz="1800" b="1" spc="-10" dirty="0">
                <a:latin typeface="Times New Roman"/>
                <a:cs typeface="Times New Roman"/>
              </a:rPr>
              <a:t> Validity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Concept: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Criterion-</a:t>
            </a:r>
            <a:r>
              <a:rPr sz="1800" dirty="0">
                <a:latin typeface="Times New Roman"/>
                <a:cs typeface="Times New Roman"/>
              </a:rPr>
              <a:t>related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validity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checks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whether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accurately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correlates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world performance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established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standard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b="1" spc="-10" dirty="0">
                <a:latin typeface="Times New Roman"/>
                <a:cs typeface="Times New Roman"/>
              </a:rPr>
              <a:t>criterion</a:t>
            </a:r>
            <a:r>
              <a:rPr sz="1800" spc="-10" dirty="0"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Example:</a:t>
            </a:r>
            <a:endParaRPr sz="1800">
              <a:latin typeface="Times New Roman"/>
              <a:cs typeface="Times New Roman"/>
            </a:endParaRPr>
          </a:p>
          <a:p>
            <a:pPr marL="12700" marR="22034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company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"Aptitude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Times New Roman"/>
                <a:cs typeface="Times New Roman"/>
              </a:rPr>
              <a:t>Test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Software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Developers"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assess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candidates </a:t>
            </a: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hiring.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If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test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has </a:t>
            </a:r>
            <a:r>
              <a:rPr sz="1800" b="1" spc="-20" dirty="0">
                <a:latin typeface="Times New Roman"/>
                <a:cs typeface="Times New Roman"/>
              </a:rPr>
              <a:t>criterion-</a:t>
            </a:r>
            <a:r>
              <a:rPr sz="1800" b="1" dirty="0">
                <a:latin typeface="Times New Roman"/>
                <a:cs typeface="Times New Roman"/>
              </a:rPr>
              <a:t>related</a:t>
            </a:r>
            <a:r>
              <a:rPr sz="1800" b="1" spc="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validity: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Candidates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 well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coding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jobs.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match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actual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performance.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If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test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lacks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criterion-</a:t>
            </a:r>
            <a:r>
              <a:rPr sz="1800" b="1" dirty="0">
                <a:latin typeface="Times New Roman"/>
                <a:cs typeface="Times New Roman"/>
              </a:rPr>
              <a:t>related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validity: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High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scorers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struggle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 real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coding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tasks.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Low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scorers perform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better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actual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scorers.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328929"/>
            <a:ext cx="8421370" cy="551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Construct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validity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73660">
              <a:lnSpc>
                <a:spcPct val="200100"/>
              </a:lnSpc>
            </a:pPr>
            <a:r>
              <a:rPr sz="2400" dirty="0">
                <a:latin typeface="Times New Roman"/>
                <a:cs typeface="Times New Roman"/>
              </a:rPr>
              <a:t>Construct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abstract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validity.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concept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strong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theoretical </a:t>
            </a:r>
            <a:r>
              <a:rPr sz="2400" spc="-10" dirty="0">
                <a:latin typeface="Times New Roman"/>
                <a:cs typeface="Times New Roman"/>
              </a:rPr>
              <a:t>foundation.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33400">
              <a:lnSpc>
                <a:spcPct val="100000"/>
              </a:lnSpc>
            </a:pPr>
            <a:r>
              <a:rPr sz="2400" spc="-2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validity,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theories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expected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outcomes.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scores show 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expected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test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validity.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measurement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aligns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established</a:t>
            </a:r>
            <a:r>
              <a:rPr sz="2400" spc="-10" dirty="0">
                <a:latin typeface="Times New Roman"/>
                <a:cs typeface="Times New Roman"/>
              </a:rPr>
              <a:t> theories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predicted,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considered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valid.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596849"/>
            <a:ext cx="9582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nstantia"/>
                <a:cs typeface="Constantia"/>
              </a:rPr>
              <a:t>Example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146175"/>
            <a:ext cx="8225790" cy="524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nstantia"/>
                <a:cs typeface="Constantia"/>
              </a:rPr>
              <a:t>Concept:</a:t>
            </a:r>
            <a:endParaRPr sz="1800">
              <a:latin typeface="Constantia"/>
              <a:cs typeface="Constantia"/>
            </a:endParaRPr>
          </a:p>
          <a:p>
            <a:pPr marL="12700" marR="245110">
              <a:lnSpc>
                <a:spcPct val="100000"/>
              </a:lnSpc>
            </a:pPr>
            <a:r>
              <a:rPr sz="1800" spc="-10" dirty="0">
                <a:latin typeface="Constantia"/>
                <a:cs typeface="Constantia"/>
              </a:rPr>
              <a:t>Construct</a:t>
            </a:r>
            <a:r>
              <a:rPr sz="1800" spc="-12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validity</a:t>
            </a:r>
            <a:r>
              <a:rPr sz="1800" spc="-6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checks</a:t>
            </a:r>
            <a:r>
              <a:rPr sz="1800" spc="-12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whether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</a:t>
            </a:r>
            <a:r>
              <a:rPr sz="1800" spc="-7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test</a:t>
            </a:r>
            <a:r>
              <a:rPr sz="1800" spc="-4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truly</a:t>
            </a:r>
            <a:r>
              <a:rPr sz="1800" spc="-5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measures</a:t>
            </a:r>
            <a:r>
              <a:rPr sz="1800" spc="-10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what</a:t>
            </a:r>
            <a:r>
              <a:rPr sz="1800" spc="-6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it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claims</a:t>
            </a:r>
            <a:r>
              <a:rPr sz="1800" spc="-5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to</a:t>
            </a:r>
            <a:r>
              <a:rPr sz="1800" spc="-4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measure </a:t>
            </a:r>
            <a:r>
              <a:rPr sz="1800" dirty="0">
                <a:latin typeface="Constantia"/>
                <a:cs typeface="Constantia"/>
              </a:rPr>
              <a:t>based</a:t>
            </a:r>
            <a:r>
              <a:rPr sz="1800" spc="-7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on</a:t>
            </a:r>
            <a:r>
              <a:rPr sz="1800" spc="-7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</a:t>
            </a:r>
            <a:r>
              <a:rPr sz="1800" spc="-10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solid</a:t>
            </a:r>
            <a:r>
              <a:rPr sz="1800" spc="-3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theory.</a:t>
            </a: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b="1" spc="-10" dirty="0">
                <a:latin typeface="Constantia"/>
                <a:cs typeface="Constantia"/>
              </a:rPr>
              <a:t>Example:</a:t>
            </a: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tantia"/>
                <a:cs typeface="Constantia"/>
              </a:rPr>
              <a:t>A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professor</a:t>
            </a:r>
            <a:r>
              <a:rPr sz="1800" spc="-10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develops</a:t>
            </a:r>
            <a:r>
              <a:rPr sz="1800" spc="36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</a:t>
            </a:r>
            <a:r>
              <a:rPr sz="1800" spc="-114" dirty="0">
                <a:latin typeface="Constantia"/>
                <a:cs typeface="Constantia"/>
              </a:rPr>
              <a:t> </a:t>
            </a:r>
            <a:r>
              <a:rPr sz="1800" b="1" spc="-10" dirty="0">
                <a:latin typeface="Constantia"/>
                <a:cs typeface="Constantia"/>
              </a:rPr>
              <a:t>"Programming Skills</a:t>
            </a:r>
            <a:r>
              <a:rPr sz="1800" b="1" spc="-105" dirty="0">
                <a:latin typeface="Constantia"/>
                <a:cs typeface="Constantia"/>
              </a:rPr>
              <a:t> </a:t>
            </a:r>
            <a:r>
              <a:rPr sz="1800" b="1" spc="-25" dirty="0">
                <a:latin typeface="Constantia"/>
                <a:cs typeface="Constantia"/>
              </a:rPr>
              <a:t>Test"</a:t>
            </a:r>
            <a:r>
              <a:rPr sz="1800" b="1" spc="-5" dirty="0">
                <a:latin typeface="Constantia"/>
                <a:cs typeface="Constantia"/>
              </a:rPr>
              <a:t> </a:t>
            </a:r>
            <a:r>
              <a:rPr sz="1800" spc="-30" dirty="0">
                <a:latin typeface="Constantia"/>
                <a:cs typeface="Constantia"/>
              </a:rPr>
              <a:t>to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assess</a:t>
            </a:r>
            <a:r>
              <a:rPr sz="1800" spc="-4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MCA</a:t>
            </a:r>
            <a:r>
              <a:rPr sz="1800" spc="-7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students'</a:t>
            </a:r>
            <a:r>
              <a:rPr sz="1800" spc="-5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coding</a:t>
            </a: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nstantia"/>
                <a:cs typeface="Constantia"/>
              </a:rPr>
              <a:t>abilities.</a:t>
            </a: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onstantia"/>
                <a:cs typeface="Constantia"/>
              </a:rPr>
              <a:t>If</a:t>
            </a:r>
            <a:r>
              <a:rPr sz="1800" b="1" spc="20" dirty="0">
                <a:latin typeface="Constantia"/>
                <a:cs typeface="Constantia"/>
              </a:rPr>
              <a:t> </a:t>
            </a:r>
            <a:r>
              <a:rPr sz="1800" b="1" dirty="0">
                <a:latin typeface="Constantia"/>
                <a:cs typeface="Constantia"/>
              </a:rPr>
              <a:t>the</a:t>
            </a:r>
            <a:r>
              <a:rPr sz="1800" b="1" spc="-85" dirty="0">
                <a:latin typeface="Constantia"/>
                <a:cs typeface="Constantia"/>
              </a:rPr>
              <a:t> </a:t>
            </a:r>
            <a:r>
              <a:rPr sz="1800" b="1" dirty="0">
                <a:latin typeface="Constantia"/>
                <a:cs typeface="Constantia"/>
              </a:rPr>
              <a:t>test</a:t>
            </a:r>
            <a:r>
              <a:rPr sz="1800" b="1" spc="-65" dirty="0">
                <a:latin typeface="Constantia"/>
                <a:cs typeface="Constantia"/>
              </a:rPr>
              <a:t> </a:t>
            </a:r>
            <a:r>
              <a:rPr sz="1800" b="1" dirty="0">
                <a:latin typeface="Constantia"/>
                <a:cs typeface="Constantia"/>
              </a:rPr>
              <a:t>has</a:t>
            </a:r>
            <a:r>
              <a:rPr sz="1800" b="1" spc="-90" dirty="0">
                <a:latin typeface="Constantia"/>
                <a:cs typeface="Constantia"/>
              </a:rPr>
              <a:t> </a:t>
            </a:r>
            <a:r>
              <a:rPr sz="1800" b="1" spc="-10" dirty="0">
                <a:latin typeface="Constantia"/>
                <a:cs typeface="Constantia"/>
              </a:rPr>
              <a:t>construct</a:t>
            </a:r>
            <a:r>
              <a:rPr sz="1800" b="1" spc="-65" dirty="0">
                <a:latin typeface="Constantia"/>
                <a:cs typeface="Constantia"/>
              </a:rPr>
              <a:t> </a:t>
            </a:r>
            <a:r>
              <a:rPr sz="1800" b="1" spc="-10" dirty="0">
                <a:latin typeface="Constantia"/>
                <a:cs typeface="Constantia"/>
              </a:rPr>
              <a:t>validity:</a:t>
            </a:r>
            <a:endParaRPr sz="1800">
              <a:latin typeface="Constantia"/>
              <a:cs typeface="Constantia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onstantia"/>
                <a:cs typeface="Constantia"/>
              </a:rPr>
              <a:t>Students</a:t>
            </a:r>
            <a:r>
              <a:rPr sz="1800" spc="-100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who</a:t>
            </a:r>
            <a:r>
              <a:rPr sz="1800" spc="-9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study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programming</a:t>
            </a:r>
            <a:r>
              <a:rPr sz="1800" spc="-5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regularly</a:t>
            </a:r>
            <a:r>
              <a:rPr sz="1800" spc="-12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score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higher.</a:t>
            </a:r>
            <a:endParaRPr sz="1800">
              <a:latin typeface="Constantia"/>
              <a:cs typeface="Constantia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latin typeface="Constantia"/>
                <a:cs typeface="Constantia"/>
              </a:rPr>
              <a:t>Students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with</a:t>
            </a:r>
            <a:r>
              <a:rPr sz="1800" spc="-6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prior</a:t>
            </a:r>
            <a:r>
              <a:rPr sz="1800" spc="-114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coding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experience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perform</a:t>
            </a:r>
            <a:r>
              <a:rPr sz="1800" spc="-2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better.</a:t>
            </a:r>
            <a:endParaRPr sz="1800">
              <a:latin typeface="Constantia"/>
              <a:cs typeface="Constantia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Constantia"/>
                <a:cs typeface="Constantia"/>
              </a:rPr>
              <a:t>The</a:t>
            </a:r>
            <a:r>
              <a:rPr sz="1800" spc="-5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test</a:t>
            </a:r>
            <a:r>
              <a:rPr sz="1800" spc="-4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results</a:t>
            </a:r>
            <a:r>
              <a:rPr sz="1800" spc="-6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correlate</a:t>
            </a:r>
            <a:r>
              <a:rPr sz="1800" spc="-12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with</a:t>
            </a:r>
            <a:r>
              <a:rPr sz="1800" spc="-4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real-</a:t>
            </a:r>
            <a:r>
              <a:rPr sz="1800" spc="-20" dirty="0">
                <a:latin typeface="Constantia"/>
                <a:cs typeface="Constantia"/>
              </a:rPr>
              <a:t>world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coding</a:t>
            </a:r>
            <a:r>
              <a:rPr sz="1800" spc="-5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performance.</a:t>
            </a: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onstantia"/>
                <a:cs typeface="Constantia"/>
              </a:rPr>
              <a:t>If</a:t>
            </a:r>
            <a:r>
              <a:rPr sz="1800" b="1" spc="20" dirty="0">
                <a:latin typeface="Constantia"/>
                <a:cs typeface="Constantia"/>
              </a:rPr>
              <a:t> </a:t>
            </a:r>
            <a:r>
              <a:rPr sz="1800" b="1" dirty="0">
                <a:latin typeface="Constantia"/>
                <a:cs typeface="Constantia"/>
              </a:rPr>
              <a:t>the</a:t>
            </a:r>
            <a:r>
              <a:rPr sz="1800" b="1" spc="-90" dirty="0">
                <a:latin typeface="Constantia"/>
                <a:cs typeface="Constantia"/>
              </a:rPr>
              <a:t> </a:t>
            </a:r>
            <a:r>
              <a:rPr sz="1800" b="1" dirty="0">
                <a:latin typeface="Constantia"/>
                <a:cs typeface="Constantia"/>
              </a:rPr>
              <a:t>test</a:t>
            </a:r>
            <a:r>
              <a:rPr sz="1800" b="1" spc="-70" dirty="0">
                <a:latin typeface="Constantia"/>
                <a:cs typeface="Constantia"/>
              </a:rPr>
              <a:t> </a:t>
            </a:r>
            <a:r>
              <a:rPr sz="1800" b="1" dirty="0">
                <a:latin typeface="Constantia"/>
                <a:cs typeface="Constantia"/>
              </a:rPr>
              <a:t>lacks</a:t>
            </a:r>
            <a:r>
              <a:rPr sz="1800" b="1" spc="-85" dirty="0">
                <a:latin typeface="Constantia"/>
                <a:cs typeface="Constantia"/>
              </a:rPr>
              <a:t> </a:t>
            </a:r>
            <a:r>
              <a:rPr sz="1800" b="1" spc="-10" dirty="0">
                <a:latin typeface="Constantia"/>
                <a:cs typeface="Constantia"/>
              </a:rPr>
              <a:t>construct</a:t>
            </a:r>
            <a:r>
              <a:rPr sz="1800" b="1" spc="-90" dirty="0">
                <a:latin typeface="Constantia"/>
                <a:cs typeface="Constantia"/>
              </a:rPr>
              <a:t> </a:t>
            </a:r>
            <a:r>
              <a:rPr sz="1800" b="1" spc="-10" dirty="0">
                <a:latin typeface="Constantia"/>
                <a:cs typeface="Constantia"/>
              </a:rPr>
              <a:t>validity:</a:t>
            </a:r>
            <a:endParaRPr sz="1800">
              <a:latin typeface="Constantia"/>
              <a:cs typeface="Constantia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latin typeface="Constantia"/>
                <a:cs typeface="Constantia"/>
              </a:rPr>
              <a:t>Students</a:t>
            </a:r>
            <a:r>
              <a:rPr sz="1800" spc="-10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with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strong</a:t>
            </a:r>
            <a:r>
              <a:rPr sz="1800" spc="-6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coding</a:t>
            </a:r>
            <a:r>
              <a:rPr sz="1800" spc="-10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skills</a:t>
            </a:r>
            <a:r>
              <a:rPr sz="1800" spc="-70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score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low.</a:t>
            </a:r>
            <a:endParaRPr sz="1800">
              <a:latin typeface="Constantia"/>
              <a:cs typeface="Constantia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latin typeface="Constantia"/>
                <a:cs typeface="Constantia"/>
              </a:rPr>
              <a:t>Students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who</a:t>
            </a:r>
            <a:r>
              <a:rPr sz="1800" spc="-4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memorize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theory</a:t>
            </a:r>
            <a:r>
              <a:rPr sz="1800" spc="-5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(without</a:t>
            </a:r>
            <a:r>
              <a:rPr sz="1800" spc="-10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coding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practice)</a:t>
            </a:r>
            <a:r>
              <a:rPr sz="1800" spc="-6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score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high.</a:t>
            </a:r>
            <a:endParaRPr sz="1800">
              <a:latin typeface="Constantia"/>
              <a:cs typeface="Constantia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tantia"/>
                <a:cs typeface="Constantia"/>
              </a:rPr>
              <a:t>The</a:t>
            </a:r>
            <a:r>
              <a:rPr sz="1800" spc="-95" dirty="0">
                <a:latin typeface="Constantia"/>
                <a:cs typeface="Constantia"/>
              </a:rPr>
              <a:t> </a:t>
            </a:r>
            <a:r>
              <a:rPr sz="1800" spc="-20" dirty="0">
                <a:latin typeface="Constantia"/>
                <a:cs typeface="Constantia"/>
              </a:rPr>
              <a:t>test</a:t>
            </a:r>
            <a:r>
              <a:rPr sz="1800" spc="-9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does</a:t>
            </a:r>
            <a:r>
              <a:rPr sz="1800" spc="-6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not</a:t>
            </a:r>
            <a:r>
              <a:rPr sz="1800" spc="-10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align</a:t>
            </a:r>
            <a:r>
              <a:rPr sz="1800" spc="-7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with</a:t>
            </a:r>
            <a:r>
              <a:rPr sz="1800" spc="-7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expected</a:t>
            </a:r>
            <a:r>
              <a:rPr sz="1800" spc="-4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patterns.</a:t>
            </a: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tantia"/>
                <a:cs typeface="Constantia"/>
              </a:rPr>
              <a:t>This</a:t>
            </a:r>
            <a:r>
              <a:rPr sz="1800" spc="-11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shows</a:t>
            </a:r>
            <a:r>
              <a:rPr sz="1800" spc="-6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that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construct</a:t>
            </a:r>
            <a:r>
              <a:rPr sz="1800" spc="-15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validity</a:t>
            </a:r>
            <a:r>
              <a:rPr sz="1800" spc="-8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ensures</a:t>
            </a:r>
            <a:r>
              <a:rPr sz="1800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the</a:t>
            </a:r>
            <a:r>
              <a:rPr sz="1800" spc="-5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test</a:t>
            </a:r>
            <a:r>
              <a:rPr sz="1800" spc="-5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truly</a:t>
            </a:r>
            <a:r>
              <a:rPr sz="1800" spc="-8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measures</a:t>
            </a:r>
            <a:r>
              <a:rPr sz="1800" spc="-165" dirty="0">
                <a:latin typeface="Constantia"/>
                <a:cs typeface="Constantia"/>
              </a:rPr>
              <a:t> </a:t>
            </a:r>
            <a:r>
              <a:rPr sz="1800" b="1" spc="-10" dirty="0">
                <a:latin typeface="Constantia"/>
                <a:cs typeface="Constantia"/>
              </a:rPr>
              <a:t>programming</a:t>
            </a: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onstantia"/>
                <a:cs typeface="Constantia"/>
              </a:rPr>
              <a:t>skills</a:t>
            </a:r>
            <a:r>
              <a:rPr sz="1800" b="1" spc="-8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and</a:t>
            </a:r>
            <a:r>
              <a:rPr sz="1800" spc="-35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not</a:t>
            </a:r>
            <a:r>
              <a:rPr sz="1800" spc="-11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just</a:t>
            </a:r>
            <a:r>
              <a:rPr sz="1800" spc="-90" dirty="0">
                <a:latin typeface="Constantia"/>
                <a:cs typeface="Constantia"/>
              </a:rPr>
              <a:t> </a:t>
            </a:r>
            <a:r>
              <a:rPr sz="1800" dirty="0">
                <a:latin typeface="Constantia"/>
                <a:cs typeface="Constantia"/>
              </a:rPr>
              <a:t>theoretical</a:t>
            </a:r>
            <a:r>
              <a:rPr sz="1800" spc="-30" dirty="0">
                <a:latin typeface="Constantia"/>
                <a:cs typeface="Constantia"/>
              </a:rPr>
              <a:t> </a:t>
            </a:r>
            <a:r>
              <a:rPr sz="1800" spc="-10" dirty="0">
                <a:latin typeface="Constantia"/>
                <a:cs typeface="Constantia"/>
              </a:rPr>
              <a:t>knowledge.</a:t>
            </a:r>
            <a:endParaRPr sz="18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45667"/>
            <a:ext cx="1383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Reliability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377442"/>
            <a:ext cx="8231505" cy="3683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measuring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instrument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considered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reliable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consistently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produces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same </a:t>
            </a:r>
            <a:r>
              <a:rPr sz="2000" spc="-10" dirty="0">
                <a:latin typeface="Times New Roman"/>
                <a:cs typeface="Times New Roman"/>
              </a:rPr>
              <a:t>results.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reliability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contributes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reliable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instrument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necessarily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valid.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example,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consistently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overweighs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five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kilograms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reliable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accurate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measurement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weight.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However,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reverse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always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true—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instrument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inherently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reliable.</a:t>
            </a:r>
            <a:endParaRPr sz="20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Although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reliability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crucial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validity,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easier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assess.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instrument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meets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criteria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 reliability,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trust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temporary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situational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factors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affecting 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645668"/>
            <a:ext cx="248729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Reliability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 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aspects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950163"/>
            <a:ext cx="134112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900" algn="l"/>
              </a:tabLst>
            </a:pPr>
            <a:r>
              <a:rPr sz="2000" spc="-25" dirty="0"/>
              <a:t>1)</a:t>
            </a:r>
            <a:r>
              <a:rPr sz="2000" dirty="0"/>
              <a:t>	</a:t>
            </a:r>
            <a:r>
              <a:rPr sz="2000" spc="-10" dirty="0"/>
              <a:t>Stability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383540" y="1255522"/>
            <a:ext cx="8402955" cy="4651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69900" algn="l"/>
              </a:tabLst>
            </a:pPr>
            <a:r>
              <a:rPr sz="2000" spc="-25" dirty="0">
                <a:latin typeface="Times New Roman"/>
                <a:cs typeface="Times New Roman"/>
              </a:rPr>
              <a:t>2)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Equivalence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Stability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measuring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individual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instrument.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degree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typically </a:t>
            </a:r>
            <a:r>
              <a:rPr sz="2000" dirty="0">
                <a:latin typeface="Times New Roman"/>
                <a:cs typeface="Times New Roman"/>
              </a:rPr>
              <a:t>assessed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repeated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measurements.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Equivalence,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hand, </a:t>
            </a:r>
            <a:r>
              <a:rPr sz="2000" dirty="0">
                <a:latin typeface="Times New Roman"/>
                <a:cs typeface="Times New Roman"/>
              </a:rPr>
              <a:t>examines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potential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introduced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investigators 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items.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equivalence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observations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investigators.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latin typeface="Times New Roman"/>
                <a:cs typeface="Times New Roman"/>
              </a:rPr>
              <a:t>Reliability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enhanced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ways: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Standardizing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measurement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conditions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minimal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variations,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fatigue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boredom,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stability.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10795">
              <a:lnSpc>
                <a:spcPct val="98800"/>
              </a:lnSpc>
            </a:pPr>
            <a:r>
              <a:rPr sz="2000" b="1" dirty="0">
                <a:latin typeface="Times New Roman"/>
                <a:cs typeface="Times New Roman"/>
              </a:rPr>
              <a:t>Carefully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measurement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procedures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consistent </a:t>
            </a:r>
            <a:r>
              <a:rPr sz="2000" dirty="0">
                <a:latin typeface="Times New Roman"/>
                <a:cs typeface="Times New Roman"/>
              </a:rPr>
              <a:t>instructions,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employing </a:t>
            </a:r>
            <a:r>
              <a:rPr sz="2000" spc="-30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trained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motivated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researchers,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expanding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contribute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equivalence</a:t>
            </a:r>
            <a:r>
              <a:rPr sz="2400" spc="-10" dirty="0">
                <a:latin typeface="Constantia"/>
                <a:cs typeface="Constantia"/>
              </a:rPr>
              <a:t>.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5018" y="760603"/>
            <a:ext cx="8441690" cy="469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latin typeface="Times New Roman"/>
                <a:cs typeface="Times New Roman"/>
              </a:rPr>
              <a:t>Test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Practicality</a:t>
            </a:r>
            <a:endParaRPr sz="18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practicality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measuring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instrument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evaluated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three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key</a:t>
            </a:r>
            <a:r>
              <a:rPr sz="1800" spc="4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factors: </a:t>
            </a:r>
            <a:r>
              <a:rPr sz="1800" b="1" dirty="0">
                <a:latin typeface="Times New Roman"/>
                <a:cs typeface="Times New Roman"/>
              </a:rPr>
              <a:t>economy,</a:t>
            </a:r>
            <a:r>
              <a:rPr sz="1800" b="1" spc="210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convenience,</a:t>
            </a:r>
            <a:r>
              <a:rPr sz="1800" b="1" spc="215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204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interpretability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21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1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21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operational</a:t>
            </a:r>
            <a:r>
              <a:rPr sz="1800" spc="20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perspective,</a:t>
            </a:r>
            <a:r>
              <a:rPr sz="1800" spc="215" dirty="0">
                <a:latin typeface="Times New Roman"/>
                <a:cs typeface="Times New Roman"/>
              </a:rPr>
              <a:t> 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dirty="0">
                <a:latin typeface="Times New Roman"/>
                <a:cs typeface="Times New Roman"/>
              </a:rPr>
              <a:t>measuring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instrument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practical,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meaning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cost-</a:t>
            </a:r>
            <a:r>
              <a:rPr sz="1800" dirty="0">
                <a:latin typeface="Times New Roman"/>
                <a:cs typeface="Times New Roman"/>
              </a:rPr>
              <a:t>effective,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easy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use,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capable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producing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meaningful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results.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Economy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often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trade-</a:t>
            </a:r>
            <a:r>
              <a:rPr sz="1800" dirty="0">
                <a:latin typeface="Times New Roman"/>
                <a:cs typeface="Times New Roman"/>
              </a:rPr>
              <a:t>off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ideal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budget </a:t>
            </a:r>
            <a:r>
              <a:rPr sz="1800" dirty="0">
                <a:latin typeface="Times New Roman"/>
                <a:cs typeface="Times New Roman"/>
              </a:rPr>
              <a:t>constraints.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length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measuring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instrument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primary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</a:t>
            </a:r>
            <a:r>
              <a:rPr sz="1800" spc="4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4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financial </a:t>
            </a:r>
            <a:r>
              <a:rPr sz="1800" dirty="0">
                <a:latin typeface="Times New Roman"/>
                <a:cs typeface="Times New Roman"/>
              </a:rPr>
              <a:t>limitations</a:t>
            </a:r>
            <a:r>
              <a:rPr sz="1800" spc="3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33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felt.</a:t>
            </a:r>
            <a:r>
              <a:rPr sz="1800" spc="3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While</a:t>
            </a:r>
            <a:r>
              <a:rPr sz="1800" spc="33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including</a:t>
            </a:r>
            <a:r>
              <a:rPr sz="1800" spc="33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3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items</a:t>
            </a:r>
            <a:r>
              <a:rPr sz="1800" spc="33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enhances</a:t>
            </a:r>
            <a:r>
              <a:rPr sz="1800" spc="3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reliability,</a:t>
            </a:r>
            <a:r>
              <a:rPr sz="1800" spc="33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practical considerations—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observation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time—</a:t>
            </a:r>
            <a:r>
              <a:rPr sz="1800" dirty="0">
                <a:latin typeface="Times New Roman"/>
                <a:cs typeface="Times New Roman"/>
              </a:rPr>
              <a:t>necessitate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selecting </a:t>
            </a:r>
            <a:r>
              <a:rPr sz="1800" spc="-20" dirty="0">
                <a:latin typeface="Times New Roman"/>
                <a:cs typeface="Times New Roman"/>
              </a:rPr>
              <a:t>only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few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key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items.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Similarly,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economic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factors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influence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choice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collection methods.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Convenience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9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instrument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9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easy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administer,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requires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careful </a:t>
            </a:r>
            <a:r>
              <a:rPr sz="1800" dirty="0">
                <a:latin typeface="Times New Roman"/>
                <a:cs typeface="Times New Roman"/>
              </a:rPr>
              <a:t>attention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layout.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example,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well-</a:t>
            </a:r>
            <a:r>
              <a:rPr sz="1800" dirty="0">
                <a:latin typeface="Times New Roman"/>
                <a:cs typeface="Times New Roman"/>
              </a:rPr>
              <a:t>structured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questionnaire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clear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instructions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illustrative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examples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effective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user-</a:t>
            </a:r>
            <a:r>
              <a:rPr sz="1800" dirty="0">
                <a:latin typeface="Times New Roman"/>
                <a:cs typeface="Times New Roman"/>
              </a:rPr>
              <a:t>friendly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lacking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these elements.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5018" y="1114805"/>
            <a:ext cx="8399780" cy="331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Interpretability</a:t>
            </a:r>
            <a:r>
              <a:rPr sz="1800" spc="-1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particularly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designers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analyze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results.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35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ensure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clarity,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instrument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include: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Detailed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instructions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administering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test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Scoring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guidelines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Evidence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reliability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Guidance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interpreting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results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150495">
              <a:lnSpc>
                <a:spcPts val="2140"/>
              </a:lnSpc>
            </a:pPr>
            <a:r>
              <a:rPr sz="1800" spc="-2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well-</a:t>
            </a:r>
            <a:r>
              <a:rPr sz="1800" dirty="0">
                <a:latin typeface="Times New Roman"/>
                <a:cs typeface="Times New Roman"/>
              </a:rPr>
              <a:t>designed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instrument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balances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aspects enhances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usability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effectiveness</a:t>
            </a:r>
            <a:r>
              <a:rPr sz="1800" spc="-10" dirty="0">
                <a:latin typeface="Constantia"/>
                <a:cs typeface="Constantia"/>
              </a:rPr>
              <a:t>.</a:t>
            </a:r>
            <a:endParaRPr sz="18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036" y="29032"/>
            <a:ext cx="47415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Determining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sample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design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8488" y="739520"/>
            <a:ext cx="8478520" cy="5677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Sampling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individuals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characterize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whole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population</a:t>
            </a:r>
            <a:r>
              <a:rPr sz="2000" b="1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members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specified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group,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possible </a:t>
            </a:r>
            <a:r>
              <a:rPr sz="2000" dirty="0">
                <a:latin typeface="Times New Roman"/>
                <a:cs typeface="Times New Roman"/>
              </a:rPr>
              <a:t>outcomes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measurements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interest.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exact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depend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scope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study.</a:t>
            </a:r>
            <a:endParaRPr sz="2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observations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drawn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subset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population.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sample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elements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who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participated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study.</a:t>
            </a:r>
            <a:endParaRPr sz="20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Example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COVID-</a:t>
            </a:r>
            <a:r>
              <a:rPr sz="2000" dirty="0">
                <a:latin typeface="Times New Roman"/>
                <a:cs typeface="Times New Roman"/>
              </a:rPr>
              <a:t>19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vaccine clinical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trials.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6096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sample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pre-</a:t>
            </a:r>
            <a:r>
              <a:rPr sz="2000" dirty="0">
                <a:latin typeface="Times New Roman"/>
                <a:cs typeface="Times New Roman"/>
              </a:rPr>
              <a:t>determined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given</a:t>
            </a:r>
            <a:endParaRPr sz="20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population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purposes.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5784215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Types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Designs: </a:t>
            </a:r>
            <a:r>
              <a:rPr sz="2000" dirty="0">
                <a:latin typeface="Times New Roman"/>
                <a:cs typeface="Times New Roman"/>
              </a:rPr>
              <a:t>Probability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 </a:t>
            </a:r>
            <a:r>
              <a:rPr sz="2000" spc="-20" dirty="0">
                <a:latin typeface="Times New Roman"/>
                <a:cs typeface="Times New Roman"/>
              </a:rPr>
              <a:t>Non-</a:t>
            </a:r>
            <a:r>
              <a:rPr sz="2000" dirty="0">
                <a:latin typeface="Times New Roman"/>
                <a:cs typeface="Times New Roman"/>
              </a:rPr>
              <a:t>Probability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Sampling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Sampling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Techniques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172972"/>
            <a:ext cx="8696960" cy="48545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7020" marR="5080" indent="-274955" algn="just">
              <a:lnSpc>
                <a:spcPts val="2860"/>
              </a:lnSpc>
              <a:spcBef>
                <a:spcPts val="620"/>
              </a:spcBef>
              <a:buSzPct val="94642"/>
              <a:buFont typeface="Arial MT"/>
              <a:buChar char="•"/>
              <a:tabLst>
                <a:tab pos="287020" algn="l"/>
              </a:tabLst>
            </a:pPr>
            <a:r>
              <a:rPr sz="2800" dirty="0">
                <a:latin typeface="Times New Roman"/>
                <a:cs typeface="Times New Roman"/>
              </a:rPr>
              <a:t>Probability</a:t>
            </a:r>
            <a:r>
              <a:rPr sz="2800" spc="5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sampling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involves</a:t>
            </a:r>
            <a:r>
              <a:rPr sz="2600" spc="5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random</a:t>
            </a:r>
            <a:r>
              <a:rPr sz="2600" spc="5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selection,</a:t>
            </a:r>
            <a:r>
              <a:rPr sz="2600" spc="5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allows</a:t>
            </a:r>
            <a:r>
              <a:rPr sz="2600" spc="5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make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strong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statistical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inferences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about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whole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group.</a:t>
            </a:r>
            <a:endParaRPr sz="2600">
              <a:latin typeface="Times New Roman"/>
              <a:cs typeface="Times New Roman"/>
            </a:endParaRPr>
          </a:p>
          <a:p>
            <a:pPr marL="284480" marR="5080" indent="-272415" algn="just">
              <a:lnSpc>
                <a:spcPct val="90000"/>
              </a:lnSpc>
              <a:spcBef>
                <a:spcPts val="570"/>
              </a:spcBef>
              <a:buSzPct val="94230"/>
              <a:buFont typeface="Arial MT"/>
              <a:buChar char="•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Probability</a:t>
            </a:r>
            <a:r>
              <a:rPr sz="2600" spc="36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sampling</a:t>
            </a:r>
            <a:r>
              <a:rPr sz="2600" spc="409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means</a:t>
            </a:r>
            <a:r>
              <a:rPr sz="2600" spc="38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38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every</a:t>
            </a:r>
            <a:r>
              <a:rPr sz="2600" spc="38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member</a:t>
            </a:r>
            <a:r>
              <a:rPr sz="2600" spc="4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395" dirty="0">
                <a:latin typeface="Times New Roman"/>
                <a:cs typeface="Times New Roman"/>
              </a:rPr>
              <a:t>  </a:t>
            </a:r>
            <a:r>
              <a:rPr sz="2600" spc="-25" dirty="0">
                <a:latin typeface="Times New Roman"/>
                <a:cs typeface="Times New Roman"/>
              </a:rPr>
              <a:t>the 	</a:t>
            </a:r>
            <a:r>
              <a:rPr sz="2600" dirty="0">
                <a:latin typeface="Times New Roman"/>
                <a:cs typeface="Times New Roman"/>
              </a:rPr>
              <a:t>population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has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chance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being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selected.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mainly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in 	</a:t>
            </a:r>
            <a:r>
              <a:rPr sz="2600" dirty="0">
                <a:latin typeface="Times New Roman"/>
                <a:cs typeface="Times New Roman"/>
              </a:rPr>
              <a:t>quantitative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research. To produce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results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 are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representative 	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3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whole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population,</a:t>
            </a:r>
            <a:r>
              <a:rPr sz="2600" spc="3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probability</a:t>
            </a:r>
            <a:r>
              <a:rPr sz="2600" spc="3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sampling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techniques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are 	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most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valid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choice.</a:t>
            </a:r>
            <a:endParaRPr sz="2600">
              <a:latin typeface="Times New Roman"/>
              <a:cs typeface="Times New Roman"/>
            </a:endParaRPr>
          </a:p>
          <a:p>
            <a:pPr marL="285750" indent="-273050" algn="just">
              <a:lnSpc>
                <a:spcPct val="100000"/>
              </a:lnSpc>
              <a:spcBef>
                <a:spcPts val="315"/>
              </a:spcBef>
              <a:buSzPct val="94230"/>
              <a:buFont typeface="Arial MT"/>
              <a:buChar char="•"/>
              <a:tabLst>
                <a:tab pos="285750" algn="l"/>
              </a:tabLst>
            </a:pPr>
            <a:r>
              <a:rPr sz="2600" dirty="0">
                <a:latin typeface="Times New Roman"/>
                <a:cs typeface="Times New Roman"/>
              </a:rPr>
              <a:t>There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four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main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types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probability</a:t>
            </a:r>
            <a:r>
              <a:rPr sz="2600" spc="-10" dirty="0">
                <a:latin typeface="Times New Roman"/>
                <a:cs typeface="Times New Roman"/>
              </a:rPr>
              <a:t> sample.</a:t>
            </a:r>
            <a:endParaRPr sz="2600">
              <a:latin typeface="Times New Roman"/>
              <a:cs typeface="Times New Roman"/>
            </a:endParaRPr>
          </a:p>
          <a:p>
            <a:pPr marL="920750" lvl="1" indent="-274320">
              <a:lnSpc>
                <a:spcPct val="100000"/>
              </a:lnSpc>
              <a:spcBef>
                <a:spcPts val="310"/>
              </a:spcBef>
              <a:buSzPct val="94230"/>
              <a:buFont typeface="Arial MT"/>
              <a:buChar char="•"/>
              <a:tabLst>
                <a:tab pos="920750" algn="l"/>
              </a:tabLst>
            </a:pPr>
            <a:r>
              <a:rPr sz="2600" dirty="0">
                <a:latin typeface="Times New Roman"/>
                <a:cs typeface="Times New Roman"/>
              </a:rPr>
              <a:t>Simple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random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Sampling</a:t>
            </a:r>
            <a:endParaRPr sz="2600">
              <a:latin typeface="Times New Roman"/>
              <a:cs typeface="Times New Roman"/>
            </a:endParaRPr>
          </a:p>
          <a:p>
            <a:pPr marL="920750" lvl="1" indent="-274320">
              <a:lnSpc>
                <a:spcPct val="100000"/>
              </a:lnSpc>
              <a:spcBef>
                <a:spcPts val="315"/>
              </a:spcBef>
              <a:buSzPct val="94230"/>
              <a:buFont typeface="Arial MT"/>
              <a:buChar char="•"/>
              <a:tabLst>
                <a:tab pos="920750" algn="l"/>
              </a:tabLst>
            </a:pPr>
            <a:r>
              <a:rPr sz="2600" dirty="0">
                <a:latin typeface="Times New Roman"/>
                <a:cs typeface="Times New Roman"/>
              </a:rPr>
              <a:t>Systematic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Sampling</a:t>
            </a:r>
            <a:endParaRPr sz="2600">
              <a:latin typeface="Times New Roman"/>
              <a:cs typeface="Times New Roman"/>
            </a:endParaRPr>
          </a:p>
          <a:p>
            <a:pPr marL="920750" lvl="1" indent="-274320">
              <a:lnSpc>
                <a:spcPct val="100000"/>
              </a:lnSpc>
              <a:spcBef>
                <a:spcPts val="315"/>
              </a:spcBef>
              <a:buSzPct val="94230"/>
              <a:buFont typeface="Arial MT"/>
              <a:buChar char="•"/>
              <a:tabLst>
                <a:tab pos="920750" algn="l"/>
              </a:tabLst>
            </a:pPr>
            <a:r>
              <a:rPr sz="2600" dirty="0">
                <a:latin typeface="Times New Roman"/>
                <a:cs typeface="Times New Roman"/>
              </a:rPr>
              <a:t>Stratified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Sampling</a:t>
            </a:r>
            <a:endParaRPr sz="2600">
              <a:latin typeface="Times New Roman"/>
              <a:cs typeface="Times New Roman"/>
            </a:endParaRPr>
          </a:p>
          <a:p>
            <a:pPr marL="920750" lvl="1" indent="-274320">
              <a:lnSpc>
                <a:spcPct val="100000"/>
              </a:lnSpc>
              <a:spcBef>
                <a:spcPts val="310"/>
              </a:spcBef>
              <a:buSzPct val="94230"/>
              <a:buFont typeface="Arial MT"/>
              <a:buChar char="•"/>
              <a:tabLst>
                <a:tab pos="920750" algn="l"/>
              </a:tabLst>
            </a:pPr>
            <a:r>
              <a:rPr sz="2600" dirty="0">
                <a:latin typeface="Times New Roman"/>
                <a:cs typeface="Times New Roman"/>
              </a:rPr>
              <a:t>Cluster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Sampling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1442" y="83896"/>
            <a:ext cx="5883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Probability</a:t>
            </a:r>
            <a:r>
              <a:rPr b="1" spc="-9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sampling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methods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2311" y="1146429"/>
            <a:ext cx="619379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solidFill>
                  <a:srgbClr val="04607A"/>
                </a:solidFill>
              </a:rPr>
              <a:t>1.</a:t>
            </a:r>
            <a:r>
              <a:rPr sz="4400" spc="-110" dirty="0">
                <a:solidFill>
                  <a:srgbClr val="04607A"/>
                </a:solidFill>
              </a:rPr>
              <a:t> </a:t>
            </a:r>
            <a:r>
              <a:rPr sz="4400" dirty="0">
                <a:solidFill>
                  <a:srgbClr val="04607A"/>
                </a:solidFill>
              </a:rPr>
              <a:t>Simple</a:t>
            </a:r>
            <a:r>
              <a:rPr sz="4400" spc="-65" dirty="0">
                <a:solidFill>
                  <a:srgbClr val="04607A"/>
                </a:solidFill>
              </a:rPr>
              <a:t> </a:t>
            </a:r>
            <a:r>
              <a:rPr sz="4400" dirty="0">
                <a:solidFill>
                  <a:srgbClr val="04607A"/>
                </a:solidFill>
              </a:rPr>
              <a:t>random</a:t>
            </a:r>
            <a:r>
              <a:rPr sz="4400" spc="-100" dirty="0">
                <a:solidFill>
                  <a:srgbClr val="04607A"/>
                </a:solidFill>
              </a:rPr>
              <a:t> </a:t>
            </a:r>
            <a:r>
              <a:rPr sz="4400" spc="-10" dirty="0">
                <a:solidFill>
                  <a:srgbClr val="04607A"/>
                </a:solidFill>
              </a:rPr>
              <a:t>sampling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2435809"/>
            <a:ext cx="8078470" cy="2958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8255" indent="-274955" algn="just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29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simple</a:t>
            </a:r>
            <a:r>
              <a:rPr sz="2600" spc="29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random</a:t>
            </a:r>
            <a:r>
              <a:rPr sz="2600" spc="2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sample,</a:t>
            </a:r>
            <a:r>
              <a:rPr sz="2600" spc="29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every</a:t>
            </a:r>
            <a:r>
              <a:rPr sz="2600" spc="28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member</a:t>
            </a:r>
            <a:r>
              <a:rPr sz="2600" spc="29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305" dirty="0">
                <a:latin typeface="Times New Roman"/>
                <a:cs typeface="Times New Roman"/>
              </a:rPr>
              <a:t> 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population</a:t>
            </a:r>
            <a:r>
              <a:rPr sz="2600" spc="4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has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equal</a:t>
            </a:r>
            <a:r>
              <a:rPr sz="2600" spc="4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chance</a:t>
            </a:r>
            <a:r>
              <a:rPr sz="2600" spc="4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being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selected.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Here </a:t>
            </a:r>
            <a:r>
              <a:rPr sz="2600" dirty="0">
                <a:latin typeface="Times New Roman"/>
                <a:cs typeface="Times New Roman"/>
              </a:rPr>
              <a:t>sampling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frame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should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include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whole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population.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0"/>
              </a:spcBef>
              <a:buClr>
                <a:srgbClr val="0AD0D9"/>
              </a:buClr>
              <a:buFont typeface="Segoe UI Symbol"/>
              <a:buChar char="⚫"/>
            </a:pPr>
            <a:endParaRPr sz="2600">
              <a:latin typeface="Times New Roman"/>
              <a:cs typeface="Times New Roman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conduct</a:t>
            </a:r>
            <a:r>
              <a:rPr sz="2600" spc="1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1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type</a:t>
            </a:r>
            <a:r>
              <a:rPr sz="2600" spc="12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14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sampling,</a:t>
            </a:r>
            <a:r>
              <a:rPr sz="2600" spc="114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tools</a:t>
            </a:r>
            <a:r>
              <a:rPr sz="2600" spc="12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like</a:t>
            </a:r>
            <a:r>
              <a:rPr sz="2600" spc="11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random </a:t>
            </a:r>
            <a:r>
              <a:rPr sz="2600" dirty="0">
                <a:latin typeface="Times New Roman"/>
                <a:cs typeface="Times New Roman"/>
              </a:rPr>
              <a:t>number</a:t>
            </a:r>
            <a:r>
              <a:rPr sz="2600" spc="11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generators</a:t>
            </a:r>
            <a:r>
              <a:rPr sz="2600" spc="10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12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other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techniques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10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11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based </a:t>
            </a:r>
            <a:r>
              <a:rPr sz="2600" dirty="0">
                <a:latin typeface="Times New Roman"/>
                <a:cs typeface="Times New Roman"/>
              </a:rPr>
              <a:t>entirely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chance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used.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8490" rIns="0" bIns="0" rtlCol="0">
            <a:spAutoFit/>
          </a:bodyPr>
          <a:lstStyle/>
          <a:p>
            <a:pPr marL="1847214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rgbClr val="04607A"/>
                </a:solidFill>
              </a:rPr>
              <a:t>2.</a:t>
            </a:r>
            <a:r>
              <a:rPr sz="4000" spc="-60" dirty="0">
                <a:solidFill>
                  <a:srgbClr val="04607A"/>
                </a:solidFill>
              </a:rPr>
              <a:t> </a:t>
            </a:r>
            <a:r>
              <a:rPr sz="4000" dirty="0">
                <a:solidFill>
                  <a:srgbClr val="04607A"/>
                </a:solidFill>
              </a:rPr>
              <a:t>Systematic</a:t>
            </a:r>
            <a:r>
              <a:rPr sz="4000" spc="-20" dirty="0">
                <a:solidFill>
                  <a:srgbClr val="04607A"/>
                </a:solidFill>
              </a:rPr>
              <a:t> </a:t>
            </a:r>
            <a:r>
              <a:rPr sz="4000" spc="-10" dirty="0">
                <a:solidFill>
                  <a:srgbClr val="04607A"/>
                </a:solidFill>
              </a:rPr>
              <a:t>sampling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733245"/>
            <a:ext cx="8705215" cy="44170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750" marR="78105" indent="-273050">
              <a:lnSpc>
                <a:spcPct val="80000"/>
              </a:lnSpc>
              <a:spcBef>
                <a:spcPts val="675"/>
              </a:spcBef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Systematic</a:t>
            </a:r>
            <a:r>
              <a:rPr sz="2400" b="1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sampling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sampling,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	</a:t>
            </a:r>
            <a:r>
              <a:rPr sz="2400" dirty="0">
                <a:latin typeface="Times New Roman"/>
                <a:cs typeface="Times New Roman"/>
              </a:rPr>
              <a:t>slightly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easier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conduct.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listed 	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instead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randomly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numbers, 	</a:t>
            </a:r>
            <a:r>
              <a:rPr sz="2400" dirty="0">
                <a:latin typeface="Times New Roman"/>
                <a:cs typeface="Times New Roman"/>
              </a:rPr>
              <a:t>individuals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chosen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regular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intervals.</a:t>
            </a:r>
            <a:endParaRPr sz="24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buSzPct val="93750"/>
              <a:buFont typeface="Segoe UI Symbol"/>
              <a:buChar char="⚫"/>
              <a:tabLst>
                <a:tab pos="285750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Steps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selecting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systematic</a:t>
            </a:r>
            <a:r>
              <a:rPr sz="24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random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sample: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Font typeface="Segoe UI Symbol"/>
              <a:buChar char="⚫"/>
            </a:pPr>
            <a:endParaRPr sz="2400">
              <a:latin typeface="Times New Roman"/>
              <a:cs typeface="Times New Roman"/>
            </a:endParaRPr>
          </a:p>
          <a:p>
            <a:pPr marL="637540" marR="5080" lvl="1" indent="-515620">
              <a:lnSpc>
                <a:spcPts val="2310"/>
              </a:lnSpc>
              <a:buSzPct val="93750"/>
              <a:buAutoNum type="arabicPeriod"/>
              <a:tabLst>
                <a:tab pos="637540" algn="l"/>
              </a:tabLst>
            </a:pPr>
            <a:r>
              <a:rPr sz="2400" dirty="0">
                <a:latin typeface="Times New Roman"/>
                <a:cs typeface="Times New Roman"/>
              </a:rPr>
              <a:t>Calculate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sampling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interval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observations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population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divided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 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sample)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Font typeface="Times New Roman"/>
              <a:buAutoNum type="arabicPeriod"/>
            </a:pPr>
            <a:endParaRPr sz="2400">
              <a:latin typeface="Times New Roman"/>
              <a:cs typeface="Times New Roman"/>
            </a:endParaRPr>
          </a:p>
          <a:p>
            <a:pPr marL="637540" lvl="1" indent="-515620">
              <a:lnSpc>
                <a:spcPct val="100000"/>
              </a:lnSpc>
              <a:spcBef>
                <a:spcPts val="5"/>
              </a:spcBef>
              <a:buSzPct val="93750"/>
              <a:buAutoNum type="arabicPeriod"/>
              <a:tabLst>
                <a:tab pos="637540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sampling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interval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Times New Roman"/>
              <a:buAutoNum type="arabicPeriod"/>
            </a:pPr>
            <a:endParaRPr sz="2400">
              <a:latin typeface="Times New Roman"/>
              <a:cs typeface="Times New Roman"/>
            </a:endParaRPr>
          </a:p>
          <a:p>
            <a:pPr marL="637540" lvl="1" indent="-515620">
              <a:lnSpc>
                <a:spcPct val="100000"/>
              </a:lnSpc>
              <a:buSzPct val="93750"/>
              <a:buAutoNum type="arabicPeriod"/>
              <a:tabLst>
                <a:tab pos="637540" algn="l"/>
              </a:tabLst>
            </a:pPr>
            <a:r>
              <a:rPr sz="2400" dirty="0">
                <a:latin typeface="Times New Roman"/>
                <a:cs typeface="Times New Roman"/>
              </a:rPr>
              <a:t>Repeatedly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sampling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interval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subsequent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households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0389" y="177749"/>
            <a:ext cx="44418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3</a:t>
            </a:r>
            <a:r>
              <a:rPr sz="4400" dirty="0"/>
              <a:t>.</a:t>
            </a:r>
            <a:r>
              <a:rPr sz="4400" spc="-30" dirty="0"/>
              <a:t> </a:t>
            </a:r>
            <a:r>
              <a:rPr sz="4000" dirty="0"/>
              <a:t>Stratified</a:t>
            </a:r>
            <a:r>
              <a:rPr sz="4000" spc="-5" dirty="0"/>
              <a:t> </a:t>
            </a:r>
            <a:r>
              <a:rPr sz="4000" spc="-10" dirty="0"/>
              <a:t>sampling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SzPct val="94230"/>
              <a:buFont typeface="Arial MT"/>
              <a:buChar char="•"/>
              <a:tabLst>
                <a:tab pos="286385" algn="l"/>
              </a:tabLst>
            </a:pPr>
            <a:r>
              <a:rPr dirty="0"/>
              <a:t>Stratified</a:t>
            </a:r>
            <a:r>
              <a:rPr spc="-105" dirty="0"/>
              <a:t> </a:t>
            </a:r>
            <a:r>
              <a:rPr dirty="0"/>
              <a:t>sampling</a:t>
            </a:r>
            <a:r>
              <a:rPr spc="-35" dirty="0"/>
              <a:t> </a:t>
            </a:r>
            <a:r>
              <a:rPr dirty="0"/>
              <a:t>involves</a:t>
            </a:r>
            <a:r>
              <a:rPr spc="-80" dirty="0"/>
              <a:t> </a:t>
            </a:r>
            <a:r>
              <a:rPr dirty="0"/>
              <a:t>dividing</a:t>
            </a:r>
            <a:r>
              <a:rPr spc="-55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dirty="0"/>
              <a:t>population</a:t>
            </a:r>
            <a:r>
              <a:rPr spc="-55" dirty="0"/>
              <a:t> </a:t>
            </a:r>
            <a:r>
              <a:rPr spc="-20" dirty="0"/>
              <a:t>into </a:t>
            </a:r>
            <a:r>
              <a:rPr spc="-10" dirty="0"/>
              <a:t>subpopulations</a:t>
            </a:r>
            <a:r>
              <a:rPr spc="-40" dirty="0"/>
              <a:t> </a:t>
            </a:r>
            <a:r>
              <a:rPr dirty="0"/>
              <a:t>that</a:t>
            </a:r>
            <a:r>
              <a:rPr spc="-60" dirty="0"/>
              <a:t> </a:t>
            </a:r>
            <a:r>
              <a:rPr dirty="0"/>
              <a:t>may</a:t>
            </a:r>
            <a:r>
              <a:rPr spc="-55" dirty="0"/>
              <a:t> </a:t>
            </a:r>
            <a:r>
              <a:rPr dirty="0"/>
              <a:t>differ</a:t>
            </a:r>
            <a:r>
              <a:rPr spc="-10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dirty="0"/>
              <a:t>important</a:t>
            </a:r>
            <a:r>
              <a:rPr spc="-15" dirty="0"/>
              <a:t> </a:t>
            </a:r>
            <a:r>
              <a:rPr dirty="0"/>
              <a:t>ways.</a:t>
            </a:r>
            <a:r>
              <a:rPr spc="-20" dirty="0"/>
              <a:t> </a:t>
            </a:r>
            <a:r>
              <a:rPr dirty="0"/>
              <a:t>It</a:t>
            </a:r>
            <a:r>
              <a:rPr spc="-80" dirty="0"/>
              <a:t> </a:t>
            </a:r>
            <a:r>
              <a:rPr dirty="0"/>
              <a:t>allows</a:t>
            </a:r>
            <a:r>
              <a:rPr spc="-60" dirty="0"/>
              <a:t> </a:t>
            </a:r>
            <a:r>
              <a:rPr spc="-25" dirty="0"/>
              <a:t>to </a:t>
            </a:r>
            <a:r>
              <a:rPr dirty="0"/>
              <a:t>draw</a:t>
            </a:r>
            <a:r>
              <a:rPr spc="-70" dirty="0"/>
              <a:t> </a:t>
            </a:r>
            <a:r>
              <a:rPr dirty="0"/>
              <a:t>more</a:t>
            </a:r>
            <a:r>
              <a:rPr spc="-30" dirty="0"/>
              <a:t> </a:t>
            </a:r>
            <a:r>
              <a:rPr dirty="0"/>
              <a:t>precise</a:t>
            </a:r>
            <a:r>
              <a:rPr spc="-70" dirty="0"/>
              <a:t> </a:t>
            </a:r>
            <a:r>
              <a:rPr dirty="0"/>
              <a:t>conclusions</a:t>
            </a:r>
            <a:r>
              <a:rPr spc="-35" dirty="0"/>
              <a:t> </a:t>
            </a:r>
            <a:r>
              <a:rPr dirty="0"/>
              <a:t>by</a:t>
            </a:r>
            <a:r>
              <a:rPr spc="-75" dirty="0"/>
              <a:t> </a:t>
            </a:r>
            <a:r>
              <a:rPr dirty="0"/>
              <a:t>ensuring</a:t>
            </a:r>
            <a:r>
              <a:rPr spc="-5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spc="-10" dirty="0"/>
              <a:t>every </a:t>
            </a:r>
            <a:r>
              <a:rPr dirty="0"/>
              <a:t>subgroup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properly</a:t>
            </a:r>
            <a:r>
              <a:rPr spc="-65" dirty="0"/>
              <a:t> </a:t>
            </a:r>
            <a:r>
              <a:rPr dirty="0"/>
              <a:t>represented</a:t>
            </a:r>
            <a:r>
              <a:rPr spc="-40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sample.</a:t>
            </a:r>
          </a:p>
          <a:p>
            <a:pPr marL="286385" marR="92075" indent="-274320">
              <a:lnSpc>
                <a:spcPct val="100000"/>
              </a:lnSpc>
              <a:spcBef>
                <a:spcPts val="630"/>
              </a:spcBef>
              <a:buSzPct val="94230"/>
              <a:buFont typeface="Arial MT"/>
              <a:buChar char="•"/>
              <a:tabLst>
                <a:tab pos="286385" algn="l"/>
              </a:tabLst>
            </a:pPr>
            <a:r>
              <a:rPr dirty="0"/>
              <a:t>Here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population</a:t>
            </a:r>
            <a:r>
              <a:rPr spc="-2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divided</a:t>
            </a:r>
            <a:r>
              <a:rPr spc="-25" dirty="0"/>
              <a:t> </a:t>
            </a:r>
            <a:r>
              <a:rPr dirty="0"/>
              <a:t>into</a:t>
            </a:r>
            <a:r>
              <a:rPr spc="-65" dirty="0"/>
              <a:t> </a:t>
            </a:r>
            <a:r>
              <a:rPr dirty="0"/>
              <a:t>subgroups</a:t>
            </a:r>
            <a:r>
              <a:rPr spc="-30" dirty="0"/>
              <a:t> </a:t>
            </a:r>
            <a:r>
              <a:rPr dirty="0"/>
              <a:t>(called</a:t>
            </a:r>
            <a:r>
              <a:rPr spc="-65" dirty="0"/>
              <a:t> </a:t>
            </a:r>
            <a:r>
              <a:rPr spc="-10" dirty="0"/>
              <a:t>strata) </a:t>
            </a:r>
            <a:r>
              <a:rPr dirty="0"/>
              <a:t>based</a:t>
            </a:r>
            <a:r>
              <a:rPr spc="-80" dirty="0"/>
              <a:t> </a:t>
            </a:r>
            <a:r>
              <a:rPr dirty="0"/>
              <a:t>on</a:t>
            </a:r>
            <a:r>
              <a:rPr spc="-6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relevant</a:t>
            </a:r>
            <a:r>
              <a:rPr spc="-65" dirty="0"/>
              <a:t> </a:t>
            </a:r>
            <a:r>
              <a:rPr dirty="0"/>
              <a:t>characteristic</a:t>
            </a:r>
            <a:r>
              <a:rPr spc="-80" dirty="0"/>
              <a:t> </a:t>
            </a:r>
            <a:r>
              <a:rPr dirty="0"/>
              <a:t>(e.g.,</a:t>
            </a:r>
            <a:r>
              <a:rPr spc="-60" dirty="0"/>
              <a:t> </a:t>
            </a:r>
            <a:r>
              <a:rPr dirty="0"/>
              <a:t>gender</a:t>
            </a:r>
            <a:r>
              <a:rPr spc="-80" dirty="0"/>
              <a:t> </a:t>
            </a:r>
            <a:r>
              <a:rPr spc="-20" dirty="0"/>
              <a:t>identity,</a:t>
            </a:r>
            <a:r>
              <a:rPr spc="5" dirty="0"/>
              <a:t> </a:t>
            </a:r>
            <a:r>
              <a:rPr spc="-25" dirty="0"/>
              <a:t>age </a:t>
            </a:r>
            <a:r>
              <a:rPr dirty="0"/>
              <a:t>range,</a:t>
            </a:r>
            <a:r>
              <a:rPr spc="-55" dirty="0"/>
              <a:t> </a:t>
            </a:r>
            <a:r>
              <a:rPr dirty="0"/>
              <a:t>job,</a:t>
            </a:r>
            <a:r>
              <a:rPr spc="-45" dirty="0"/>
              <a:t> </a:t>
            </a:r>
            <a:r>
              <a:rPr dirty="0"/>
              <a:t>income</a:t>
            </a:r>
            <a:r>
              <a:rPr spc="-10" dirty="0"/>
              <a:t> </a:t>
            </a:r>
            <a:r>
              <a:rPr dirty="0"/>
              <a:t>bracket,</a:t>
            </a:r>
            <a:r>
              <a:rPr spc="-55" dirty="0"/>
              <a:t> </a:t>
            </a:r>
            <a:r>
              <a:rPr dirty="0"/>
              <a:t>job</a:t>
            </a:r>
            <a:r>
              <a:rPr spc="-45" dirty="0"/>
              <a:t> </a:t>
            </a:r>
            <a:r>
              <a:rPr dirty="0"/>
              <a:t>,</a:t>
            </a:r>
            <a:r>
              <a:rPr spc="-55" dirty="0"/>
              <a:t> </a:t>
            </a:r>
            <a:r>
              <a:rPr dirty="0"/>
              <a:t>role).</a:t>
            </a:r>
            <a:r>
              <a:rPr spc="-55" dirty="0"/>
              <a:t> 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5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overall </a:t>
            </a:r>
            <a:r>
              <a:rPr dirty="0"/>
              <a:t>proportions</a:t>
            </a:r>
            <a:r>
              <a:rPr spc="-3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population,</a:t>
            </a:r>
            <a:r>
              <a:rPr spc="-30" dirty="0"/>
              <a:t> </a:t>
            </a:r>
            <a:r>
              <a:rPr dirty="0"/>
              <a:t>it</a:t>
            </a:r>
            <a:r>
              <a:rPr spc="-7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calculated</a:t>
            </a:r>
            <a:r>
              <a:rPr spc="-65" dirty="0"/>
              <a:t> </a:t>
            </a:r>
            <a:r>
              <a:rPr dirty="0"/>
              <a:t>how</a:t>
            </a:r>
            <a:r>
              <a:rPr spc="-50" dirty="0"/>
              <a:t> </a:t>
            </a:r>
            <a:r>
              <a:rPr spc="-20" dirty="0"/>
              <a:t>many </a:t>
            </a:r>
            <a:r>
              <a:rPr dirty="0"/>
              <a:t>people</a:t>
            </a:r>
            <a:r>
              <a:rPr spc="-50" dirty="0"/>
              <a:t> </a:t>
            </a:r>
            <a:r>
              <a:rPr dirty="0"/>
              <a:t>should</a:t>
            </a:r>
            <a:r>
              <a:rPr spc="-50" dirty="0"/>
              <a:t> </a:t>
            </a:r>
            <a:r>
              <a:rPr dirty="0"/>
              <a:t>be</a:t>
            </a:r>
            <a:r>
              <a:rPr spc="-65" dirty="0"/>
              <a:t> </a:t>
            </a:r>
            <a:r>
              <a:rPr dirty="0"/>
              <a:t>sampled</a:t>
            </a:r>
            <a:r>
              <a:rPr spc="-20" dirty="0"/>
              <a:t> </a:t>
            </a:r>
            <a:r>
              <a:rPr dirty="0"/>
              <a:t>from</a:t>
            </a:r>
            <a:r>
              <a:rPr spc="-85" dirty="0"/>
              <a:t> </a:t>
            </a:r>
            <a:r>
              <a:rPr dirty="0"/>
              <a:t>each</a:t>
            </a:r>
            <a:r>
              <a:rPr spc="-65" dirty="0"/>
              <a:t> </a:t>
            </a:r>
            <a:r>
              <a:rPr dirty="0"/>
              <a:t>subgroup.</a:t>
            </a:r>
            <a:r>
              <a:rPr spc="-65" dirty="0"/>
              <a:t> </a:t>
            </a:r>
            <a:r>
              <a:rPr dirty="0"/>
              <a:t>Then</a:t>
            </a:r>
            <a:r>
              <a:rPr spc="-60" dirty="0"/>
              <a:t> </a:t>
            </a:r>
            <a:r>
              <a:rPr spc="-10" dirty="0"/>
              <a:t>random </a:t>
            </a:r>
            <a:r>
              <a:rPr dirty="0"/>
              <a:t>or</a:t>
            </a:r>
            <a:r>
              <a:rPr spc="-65" dirty="0"/>
              <a:t> </a:t>
            </a:r>
            <a:r>
              <a:rPr dirty="0"/>
              <a:t>systematic</a:t>
            </a:r>
            <a:r>
              <a:rPr spc="45" dirty="0"/>
              <a:t> </a:t>
            </a:r>
            <a:r>
              <a:rPr dirty="0"/>
              <a:t>sampling</a:t>
            </a:r>
            <a:r>
              <a:rPr spc="-2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used</a:t>
            </a:r>
            <a:r>
              <a:rPr spc="-6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select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sample</a:t>
            </a:r>
            <a:r>
              <a:rPr spc="-25" dirty="0"/>
              <a:t> </a:t>
            </a:r>
            <a:r>
              <a:rPr dirty="0"/>
              <a:t>from</a:t>
            </a:r>
            <a:r>
              <a:rPr spc="-85" dirty="0"/>
              <a:t> </a:t>
            </a:r>
            <a:r>
              <a:rPr spc="-20" dirty="0"/>
              <a:t>each </a:t>
            </a:r>
            <a:r>
              <a:rPr spc="-10" dirty="0"/>
              <a:t>subgroup.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0869" y="189433"/>
            <a:ext cx="43808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4.</a:t>
            </a:r>
            <a:r>
              <a:rPr sz="4400" spc="-90" dirty="0"/>
              <a:t> </a:t>
            </a:r>
            <a:r>
              <a:rPr sz="4400" dirty="0"/>
              <a:t>Cluster</a:t>
            </a:r>
            <a:r>
              <a:rPr sz="4400" spc="-55" dirty="0"/>
              <a:t> </a:t>
            </a:r>
            <a:r>
              <a:rPr sz="4400" spc="-10" dirty="0"/>
              <a:t>sampling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8739" y="1232154"/>
            <a:ext cx="8928100" cy="3750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020" marR="15240" indent="-274320">
              <a:lnSpc>
                <a:spcPct val="100000"/>
              </a:lnSpc>
              <a:spcBef>
                <a:spcPts val="90"/>
              </a:spcBef>
              <a:buSzPct val="94230"/>
              <a:buFont typeface="Arial MT"/>
              <a:buChar char="•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Cluster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involves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dividing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population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into </a:t>
            </a:r>
            <a:r>
              <a:rPr sz="2600" dirty="0">
                <a:latin typeface="Times New Roman"/>
                <a:cs typeface="Times New Roman"/>
              </a:rPr>
              <a:t>subgroups,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subgroup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should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similar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characteristics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whole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sample.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Here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entire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subgroups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randomly</a:t>
            </a:r>
            <a:r>
              <a:rPr sz="2600" spc="-10" dirty="0">
                <a:latin typeface="Times New Roman"/>
                <a:cs typeface="Times New Roman"/>
              </a:rPr>
              <a:t> selected.</a:t>
            </a:r>
            <a:endParaRPr sz="2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30"/>
              </a:spcBef>
              <a:buSzPct val="94230"/>
              <a:buFont typeface="Arial MT"/>
              <a:buChar char="•"/>
              <a:tabLst>
                <a:tab pos="286385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multistage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sampling.</a:t>
            </a:r>
            <a:endParaRPr sz="260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625"/>
              </a:spcBef>
              <a:buSzPct val="94230"/>
              <a:buFont typeface="Arial MT"/>
              <a:buChar char="•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method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good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dealing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large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dispersed </a:t>
            </a:r>
            <a:r>
              <a:rPr sz="2600" dirty="0">
                <a:latin typeface="Times New Roman"/>
                <a:cs typeface="Times New Roman"/>
              </a:rPr>
              <a:t>populations,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risk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error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there </a:t>
            </a:r>
            <a:r>
              <a:rPr sz="2600" dirty="0">
                <a:latin typeface="Times New Roman"/>
                <a:cs typeface="Times New Roman"/>
              </a:rPr>
              <a:t>could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substantial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differences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between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clusters.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It’s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difficult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guarantee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clusters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really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representative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whole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population.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603504"/>
            <a:ext cx="8311896" cy="599236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2286" y="279349"/>
            <a:ext cx="50634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Non-</a:t>
            </a:r>
            <a:r>
              <a:rPr b="1" dirty="0">
                <a:latin typeface="Times New Roman"/>
                <a:cs typeface="Times New Roman"/>
              </a:rPr>
              <a:t>probability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044016"/>
            <a:ext cx="8682990" cy="530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9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non-</a:t>
            </a:r>
            <a:r>
              <a:rPr sz="2600" b="1" dirty="0">
                <a:latin typeface="Times New Roman"/>
                <a:cs typeface="Times New Roman"/>
              </a:rPr>
              <a:t>probability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sample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individuals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selected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based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on </a:t>
            </a:r>
            <a:r>
              <a:rPr sz="2600" spc="-20" dirty="0">
                <a:latin typeface="Times New Roman"/>
                <a:cs typeface="Times New Roman"/>
              </a:rPr>
              <a:t>non-</a:t>
            </a:r>
            <a:r>
              <a:rPr sz="2600" dirty="0">
                <a:latin typeface="Times New Roman"/>
                <a:cs typeface="Times New Roman"/>
              </a:rPr>
              <a:t>random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criteria,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every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individual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chance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being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included.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0"/>
              </a:spcBef>
              <a:buFont typeface="Segoe UI Symbol"/>
              <a:buChar char="⚫"/>
            </a:pPr>
            <a:endParaRPr sz="2600">
              <a:latin typeface="Times New Roman"/>
              <a:cs typeface="Times New Roman"/>
            </a:endParaRPr>
          </a:p>
          <a:p>
            <a:pPr marL="287020" marR="983615" indent="-274955">
              <a:lnSpc>
                <a:spcPct val="100000"/>
              </a:lnSpc>
              <a:spcBef>
                <a:spcPts val="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b="1" spc="-20" dirty="0">
                <a:latin typeface="Times New Roman"/>
                <a:cs typeface="Times New Roman"/>
              </a:rPr>
              <a:t>Non-</a:t>
            </a:r>
            <a:r>
              <a:rPr sz="2600" b="1" dirty="0">
                <a:latin typeface="Times New Roman"/>
                <a:cs typeface="Times New Roman"/>
              </a:rPr>
              <a:t>probability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sampling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techniques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often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in </a:t>
            </a:r>
            <a:r>
              <a:rPr sz="2600" dirty="0">
                <a:latin typeface="Times New Roman"/>
                <a:cs typeface="Times New Roman"/>
              </a:rPr>
              <a:t>exploratory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qualitative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research.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Segoe UI Symbol"/>
              <a:buChar char="⚫"/>
            </a:pPr>
            <a:endParaRPr sz="26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5" dirty="0">
                <a:latin typeface="Constantia"/>
                <a:cs typeface="Constantia"/>
              </a:rPr>
              <a:t>Types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of </a:t>
            </a:r>
            <a:r>
              <a:rPr sz="2600" spc="-25" dirty="0">
                <a:latin typeface="Constantia"/>
                <a:cs typeface="Constantia"/>
              </a:rPr>
              <a:t>non-</a:t>
            </a:r>
            <a:r>
              <a:rPr sz="2600" spc="-10" dirty="0">
                <a:latin typeface="Constantia"/>
                <a:cs typeface="Constantia"/>
              </a:rPr>
              <a:t>probability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sampling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are</a:t>
            </a:r>
            <a:endParaRPr sz="2600">
              <a:latin typeface="Constantia"/>
              <a:cs typeface="Constantia"/>
            </a:endParaRPr>
          </a:p>
          <a:p>
            <a:pPr marL="570230" lvl="1" indent="-283210">
              <a:lnSpc>
                <a:spcPct val="100000"/>
              </a:lnSpc>
              <a:spcBef>
                <a:spcPts val="825"/>
              </a:spcBef>
              <a:buFont typeface="Constantia"/>
              <a:buAutoNum type="arabicParenR"/>
              <a:tabLst>
                <a:tab pos="570230" algn="l"/>
              </a:tabLst>
            </a:pPr>
            <a:r>
              <a:rPr sz="2400" dirty="0">
                <a:latin typeface="Times New Roman"/>
                <a:cs typeface="Times New Roman"/>
              </a:rPr>
              <a:t>Convenience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sampling</a:t>
            </a:r>
            <a:endParaRPr sz="2400">
              <a:latin typeface="Times New Roman"/>
              <a:cs typeface="Times New Roman"/>
            </a:endParaRPr>
          </a:p>
          <a:p>
            <a:pPr marL="585470" lvl="1" indent="-298450">
              <a:lnSpc>
                <a:spcPct val="100000"/>
              </a:lnSpc>
              <a:spcBef>
                <a:spcPts val="720"/>
              </a:spcBef>
              <a:buSzPct val="83333"/>
              <a:buAutoNum type="arabicParenR"/>
              <a:tabLst>
                <a:tab pos="585470" algn="l"/>
              </a:tabLst>
            </a:pPr>
            <a:r>
              <a:rPr sz="2400" spc="-30" dirty="0">
                <a:latin typeface="Times New Roman"/>
                <a:cs typeface="Times New Roman"/>
              </a:rPr>
              <a:t>Voluntary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sampling</a:t>
            </a:r>
            <a:endParaRPr sz="2400">
              <a:latin typeface="Times New Roman"/>
              <a:cs typeface="Times New Roman"/>
            </a:endParaRPr>
          </a:p>
          <a:p>
            <a:pPr marL="616585" lvl="1" indent="-329565">
              <a:lnSpc>
                <a:spcPct val="100000"/>
              </a:lnSpc>
              <a:spcBef>
                <a:spcPts val="580"/>
              </a:spcBef>
              <a:buAutoNum type="arabicParenR"/>
              <a:tabLst>
                <a:tab pos="616585" algn="l"/>
              </a:tabLst>
            </a:pPr>
            <a:r>
              <a:rPr sz="2400" dirty="0">
                <a:latin typeface="Times New Roman"/>
                <a:cs typeface="Times New Roman"/>
              </a:rPr>
              <a:t>Purposive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sampling</a:t>
            </a:r>
            <a:endParaRPr sz="2400">
              <a:latin typeface="Times New Roman"/>
              <a:cs typeface="Times New Roman"/>
            </a:endParaRPr>
          </a:p>
          <a:p>
            <a:pPr marL="616585" lvl="1" indent="-329565">
              <a:lnSpc>
                <a:spcPct val="100000"/>
              </a:lnSpc>
              <a:spcBef>
                <a:spcPts val="580"/>
              </a:spcBef>
              <a:buAutoNum type="arabicParenR"/>
              <a:tabLst>
                <a:tab pos="616585" algn="l"/>
              </a:tabLst>
            </a:pPr>
            <a:r>
              <a:rPr sz="2400" dirty="0">
                <a:latin typeface="Times New Roman"/>
                <a:cs typeface="Times New Roman"/>
              </a:rPr>
              <a:t>Snowball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sampling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3915" rIns="0" bIns="0" rtlCol="0">
            <a:spAutoFit/>
          </a:bodyPr>
          <a:lstStyle/>
          <a:p>
            <a:pPr marL="2152015">
              <a:lnSpc>
                <a:spcPct val="100000"/>
              </a:lnSpc>
              <a:spcBef>
                <a:spcPts val="90"/>
              </a:spcBef>
            </a:pPr>
            <a:r>
              <a:rPr sz="3200" dirty="0"/>
              <a:t>1.</a:t>
            </a:r>
            <a:r>
              <a:rPr sz="3200" spc="-75" dirty="0"/>
              <a:t> </a:t>
            </a:r>
            <a:r>
              <a:rPr sz="3200" dirty="0"/>
              <a:t>Convenience</a:t>
            </a:r>
            <a:r>
              <a:rPr sz="3200" spc="-55" dirty="0"/>
              <a:t> </a:t>
            </a:r>
            <a:r>
              <a:rPr sz="3200" spc="-10" dirty="0"/>
              <a:t>sampling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8739" y="1525269"/>
            <a:ext cx="8530590" cy="4702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020" marR="420370" indent="-274955">
              <a:lnSpc>
                <a:spcPct val="100000"/>
              </a:lnSpc>
              <a:spcBef>
                <a:spcPts val="90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convenience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includes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individuals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who </a:t>
            </a:r>
            <a:r>
              <a:rPr sz="2600" dirty="0">
                <a:latin typeface="Times New Roman"/>
                <a:cs typeface="Times New Roman"/>
              </a:rPr>
              <a:t>happen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most</a:t>
            </a:r>
            <a:r>
              <a:rPr sz="26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accessible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researcher.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Font typeface="Segoe UI Symbol"/>
              <a:buChar char="⚫"/>
            </a:pPr>
            <a:endParaRPr sz="2600">
              <a:latin typeface="Times New Roman"/>
              <a:cs typeface="Times New Roman"/>
            </a:endParaRPr>
          </a:p>
          <a:p>
            <a:pPr marL="287020" marR="114935" indent="-274955">
              <a:lnSpc>
                <a:spcPct val="100000"/>
              </a:lnSpc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easy</a:t>
            </a:r>
            <a:r>
              <a:rPr sz="26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26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inexpensive</a:t>
            </a:r>
            <a:r>
              <a:rPr sz="26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way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gather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initial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but </a:t>
            </a:r>
            <a:r>
              <a:rPr sz="2600" dirty="0">
                <a:latin typeface="Times New Roman"/>
                <a:cs typeface="Times New Roman"/>
              </a:rPr>
              <a:t>there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way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tell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representative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endParaRPr sz="26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2600" dirty="0">
                <a:latin typeface="Times New Roman"/>
                <a:cs typeface="Times New Roman"/>
              </a:rPr>
              <a:t>population,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can’t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produce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generalizable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results.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260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buSzPct val="94230"/>
              <a:buFont typeface="Segoe UI Symbol"/>
              <a:buChar char="⚫"/>
              <a:tabLst>
                <a:tab pos="287020" algn="l"/>
                <a:tab pos="7132320" algn="l"/>
              </a:tabLst>
            </a:pP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example</a:t>
            </a:r>
            <a:r>
              <a:rPr sz="2600" b="1" dirty="0">
                <a:latin typeface="Times New Roman"/>
                <a:cs typeface="Times New Roman"/>
              </a:rPr>
              <a:t>,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MCA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students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conducting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study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average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consumption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Sandwich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cafeteria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week, </a:t>
            </a:r>
            <a:r>
              <a:rPr sz="2600" dirty="0">
                <a:latin typeface="Times New Roman"/>
                <a:cs typeface="Times New Roman"/>
              </a:rPr>
              <a:t>they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could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their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classmates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ask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many</a:t>
            </a:r>
            <a:r>
              <a:rPr sz="2600" dirty="0">
                <a:latin typeface="Times New Roman"/>
                <a:cs typeface="Times New Roman"/>
              </a:rPr>
              <a:t>	slices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they </a:t>
            </a:r>
            <a:r>
              <a:rPr sz="2600" dirty="0">
                <a:latin typeface="Times New Roman"/>
                <a:cs typeface="Times New Roman"/>
              </a:rPr>
              <a:t>consume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during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week.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66" rIns="0" bIns="0" rtlCol="0">
            <a:spAutoFit/>
          </a:bodyPr>
          <a:lstStyle/>
          <a:p>
            <a:pPr marL="1337945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65" dirty="0"/>
              <a:t> </a:t>
            </a:r>
            <a:r>
              <a:rPr spc="-40" dirty="0"/>
              <a:t>Voluntary</a:t>
            </a:r>
            <a:r>
              <a:rPr spc="-100" dirty="0"/>
              <a:t> </a:t>
            </a:r>
            <a:r>
              <a:rPr dirty="0"/>
              <a:t>response</a:t>
            </a:r>
            <a:r>
              <a:rPr spc="-95" dirty="0"/>
              <a:t> </a:t>
            </a:r>
            <a:r>
              <a:rPr spc="-10" dirty="0"/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4355"/>
            <a:ext cx="8979535" cy="2085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166370" indent="-274955">
              <a:lnSpc>
                <a:spcPct val="100000"/>
              </a:lnSpc>
              <a:spcBef>
                <a:spcPts val="9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Similar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convenience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voluntary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response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mainly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based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ease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access.</a:t>
            </a:r>
            <a:endParaRPr sz="260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spcBef>
                <a:spcPts val="62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Instead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researcher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choosing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participants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directly </a:t>
            </a:r>
            <a:r>
              <a:rPr sz="2600" dirty="0">
                <a:latin typeface="Times New Roman"/>
                <a:cs typeface="Times New Roman"/>
              </a:rPr>
              <a:t>contacting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them,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people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volunteer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themselves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(e.g.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responding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public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online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survey).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1076" y="567054"/>
            <a:ext cx="4102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40" dirty="0"/>
              <a:t> </a:t>
            </a:r>
            <a:r>
              <a:rPr dirty="0"/>
              <a:t>Purposive</a:t>
            </a:r>
            <a:r>
              <a:rPr spc="-10" dirty="0"/>
              <a:t> 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313764"/>
            <a:ext cx="8903970" cy="2879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23495" indent="-274955">
              <a:lnSpc>
                <a:spcPct val="100000"/>
              </a:lnSpc>
              <a:spcBef>
                <a:spcPts val="9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also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known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judgment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sampling.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involves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researcher </a:t>
            </a:r>
            <a:r>
              <a:rPr sz="2600" dirty="0">
                <a:latin typeface="Times New Roman"/>
                <a:cs typeface="Times New Roman"/>
              </a:rPr>
              <a:t>using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their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expertise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select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useful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purposes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research.</a:t>
            </a:r>
            <a:endParaRPr sz="260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625"/>
              </a:spcBef>
              <a:buChar char="⚫"/>
              <a:tabLst>
                <a:tab pos="287020" algn="l"/>
                <a:tab pos="368935" algn="l"/>
              </a:tabLst>
            </a:pPr>
            <a:r>
              <a:rPr sz="2450" dirty="0">
                <a:latin typeface="Segoe UI Symbol"/>
                <a:cs typeface="Segoe UI Symbol"/>
              </a:rPr>
              <a:t>	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often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qualitative research,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researcher </a:t>
            </a:r>
            <a:r>
              <a:rPr sz="2600" dirty="0">
                <a:latin typeface="Times New Roman"/>
                <a:cs typeface="Times New Roman"/>
              </a:rPr>
              <a:t>wants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gain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detailed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knowledge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about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phenomenon </a:t>
            </a:r>
            <a:r>
              <a:rPr sz="2600" dirty="0">
                <a:latin typeface="Times New Roman"/>
                <a:cs typeface="Times New Roman"/>
              </a:rPr>
              <a:t>rather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make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statistical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inferences,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where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population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very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small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specific.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13" rIns="0" bIns="0" rtlCol="0">
            <a:spAutoFit/>
          </a:bodyPr>
          <a:lstStyle/>
          <a:p>
            <a:pPr marL="222504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35" dirty="0"/>
              <a:t> </a:t>
            </a:r>
            <a:r>
              <a:rPr dirty="0"/>
              <a:t>Snowball</a:t>
            </a:r>
            <a:r>
              <a:rPr spc="-25" dirty="0"/>
              <a:t> </a:t>
            </a:r>
            <a:r>
              <a:rPr spc="-10" dirty="0"/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513154"/>
            <a:ext cx="8881745" cy="3830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53720" indent="-274955">
              <a:lnSpc>
                <a:spcPct val="100000"/>
              </a:lnSpc>
              <a:spcBef>
                <a:spcPts val="9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population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hard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access,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snowball sampling can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be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recruit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participants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other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participants.</a:t>
            </a:r>
            <a:endParaRPr sz="260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spcBef>
                <a:spcPts val="62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people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have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access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“snowballs”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get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contact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people.</a:t>
            </a:r>
            <a:endParaRPr sz="2600">
              <a:latin typeface="Times New Roman"/>
              <a:cs typeface="Times New Roman"/>
            </a:endParaRPr>
          </a:p>
          <a:p>
            <a:pPr marL="287020" marR="455295" indent="-274955">
              <a:lnSpc>
                <a:spcPct val="100000"/>
              </a:lnSpc>
              <a:spcBef>
                <a:spcPts val="630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downside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here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also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representativeness,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have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no </a:t>
            </a:r>
            <a:r>
              <a:rPr sz="2600" dirty="0">
                <a:latin typeface="Times New Roman"/>
                <a:cs typeface="Times New Roman"/>
              </a:rPr>
              <a:t>way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knowing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representative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reliance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participants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recruiting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others.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lead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sampling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bias.</a:t>
            </a:r>
            <a:endParaRPr sz="26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30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dirty="0">
                <a:latin typeface="Times New Roman"/>
                <a:cs typeface="Times New Roman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Student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Network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8069" y="220421"/>
            <a:ext cx="3468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5" dirty="0"/>
              <a:t> </a:t>
            </a:r>
            <a:r>
              <a:rPr dirty="0"/>
              <a:t>Quota </a:t>
            </a:r>
            <a:r>
              <a:rPr spc="-10" dirty="0"/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384249"/>
            <a:ext cx="8987155" cy="3354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9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b="1" dirty="0">
                <a:latin typeface="Times New Roman"/>
                <a:cs typeface="Times New Roman"/>
              </a:rPr>
              <a:t>Quota</a:t>
            </a:r>
            <a:r>
              <a:rPr sz="2600" b="1" spc="49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sampling</a:t>
            </a:r>
            <a:r>
              <a:rPr sz="2600" b="1" spc="5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4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non</a:t>
            </a:r>
            <a:r>
              <a:rPr sz="2600" spc="4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probability</a:t>
            </a:r>
            <a:r>
              <a:rPr sz="2600" spc="459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sampling</a:t>
            </a:r>
            <a:r>
              <a:rPr sz="2600" spc="5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technique</a:t>
            </a:r>
            <a:r>
              <a:rPr sz="2600" spc="5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that </a:t>
            </a:r>
            <a:r>
              <a:rPr sz="2600" dirty="0">
                <a:latin typeface="Times New Roman"/>
                <a:cs typeface="Times New Roman"/>
              </a:rPr>
              <a:t>relies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non-</a:t>
            </a:r>
            <a:r>
              <a:rPr sz="2600" dirty="0">
                <a:latin typeface="Times New Roman"/>
                <a:cs typeface="Times New Roman"/>
              </a:rPr>
              <a:t>random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selection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predetermined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or </a:t>
            </a:r>
            <a:r>
              <a:rPr sz="2600" dirty="0">
                <a:latin typeface="Times New Roman"/>
                <a:cs typeface="Times New Roman"/>
              </a:rPr>
              <a:t>proportion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units.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quota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0"/>
              </a:spcBef>
              <a:buFont typeface="Segoe UI Symbol"/>
              <a:buChar char="⚫"/>
            </a:pPr>
            <a:endParaRPr sz="2600">
              <a:latin typeface="Times New Roman"/>
              <a:cs typeface="Times New Roman"/>
            </a:endParaRPr>
          </a:p>
          <a:p>
            <a:pPr marL="287020" marR="34290" indent="-274955">
              <a:lnSpc>
                <a:spcPct val="100000"/>
              </a:lnSpc>
              <a:spcBef>
                <a:spcPts val="5"/>
              </a:spcBef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70" dirty="0">
                <a:latin typeface="Times New Roman"/>
                <a:cs typeface="Times New Roman"/>
              </a:rPr>
              <a:t>You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first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divide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population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mutually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exclusive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subgroups </a:t>
            </a:r>
            <a:r>
              <a:rPr sz="2600" dirty="0">
                <a:latin typeface="Times New Roman"/>
                <a:cs typeface="Times New Roman"/>
              </a:rPr>
              <a:t>(called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strata)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recruit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sample units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until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reach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your </a:t>
            </a:r>
            <a:r>
              <a:rPr sz="2600" dirty="0">
                <a:latin typeface="Times New Roman"/>
                <a:cs typeface="Times New Roman"/>
              </a:rPr>
              <a:t>quota.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units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share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characteristics,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determined</a:t>
            </a:r>
            <a:r>
              <a:rPr sz="2600" spc="-25" dirty="0">
                <a:latin typeface="Times New Roman"/>
                <a:cs typeface="Times New Roman"/>
              </a:rPr>
              <a:t> by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forming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your </a:t>
            </a:r>
            <a:r>
              <a:rPr sz="2600" spc="-10" dirty="0">
                <a:latin typeface="Times New Roman"/>
                <a:cs typeface="Times New Roman"/>
              </a:rPr>
              <a:t>strata.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2" y="0"/>
            <a:ext cx="9145905" cy="6858000"/>
            <a:chOff x="-822" y="0"/>
            <a:chExt cx="914590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55"/>
              <a:ext cx="9144000" cy="1026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8834" y="0"/>
              <a:ext cx="4745165" cy="6000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822" y="0"/>
              <a:ext cx="91455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2" y="0"/>
            <a:ext cx="9145905" cy="6858000"/>
            <a:chOff x="-822" y="0"/>
            <a:chExt cx="914590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55"/>
              <a:ext cx="9144000" cy="1026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8834" y="0"/>
              <a:ext cx="4745165" cy="6000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87904" cy="10205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822" y="52323"/>
              <a:ext cx="9145584" cy="90195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76905" y="104597"/>
            <a:ext cx="3551554" cy="530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b="1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330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108" y="1330833"/>
            <a:ext cx="8535035" cy="44176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49530" algn="just">
              <a:lnSpc>
                <a:spcPct val="80000"/>
              </a:lnSpc>
              <a:spcBef>
                <a:spcPts val="675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Definition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4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queries</a:t>
            </a:r>
            <a:r>
              <a:rPr sz="24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4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guide</a:t>
            </a:r>
            <a:r>
              <a:rPr sz="24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entire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process.</a:t>
            </a:r>
            <a:r>
              <a:rPr sz="2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define</a:t>
            </a:r>
            <a:r>
              <a:rPr sz="2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24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study</a:t>
            </a:r>
            <a:r>
              <a:rPr sz="2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aims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  answer</a:t>
            </a:r>
            <a:r>
              <a:rPr sz="2400" spc="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  focus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  investigation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400" spc="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5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sz="2400" spc="5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aspects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 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problem.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Formulating</a:t>
            </a:r>
            <a:r>
              <a:rPr sz="2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  <a:spcBef>
                <a:spcPts val="10"/>
              </a:spcBef>
              <a:tabLst>
                <a:tab pos="1174115" algn="l"/>
                <a:tab pos="1536700" algn="l"/>
                <a:tab pos="4552315" algn="l"/>
                <a:tab pos="5610225" algn="l"/>
                <a:tab pos="7665720" algn="l"/>
              </a:tabLst>
            </a:pPr>
            <a:r>
              <a:rPr sz="2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	Research</a:t>
            </a:r>
            <a:r>
              <a:rPr sz="2200" b="1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questions</a:t>
            </a:r>
            <a:r>
              <a:rPr sz="22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directly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stem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problem.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  <a:spcBef>
                <a:spcPts val="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200" b="1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b="1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Clear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2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2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precise,</a:t>
            </a:r>
            <a:r>
              <a:rPr sz="22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avoid</a:t>
            </a:r>
            <a:r>
              <a:rPr sz="22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ambiguity,</a:t>
            </a:r>
            <a:r>
              <a:rPr sz="22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clearly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specify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being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studied.</a:t>
            </a:r>
            <a:endParaRPr sz="2200">
              <a:latin typeface="Times New Roman"/>
              <a:cs typeface="Times New Roman"/>
            </a:endParaRPr>
          </a:p>
          <a:p>
            <a:pPr marL="469900" marR="5080">
              <a:lnSpc>
                <a:spcPct val="80000"/>
              </a:lnSpc>
              <a:spcBef>
                <a:spcPts val="530"/>
              </a:spcBef>
              <a:tabLst>
                <a:tab pos="4537075" algn="l"/>
                <a:tab pos="4927600" algn="l"/>
                <a:tab pos="6311900" algn="l"/>
                <a:tab pos="7513320" algn="l"/>
              </a:tabLst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Feasibility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2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answerable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using</a:t>
            </a:r>
            <a:r>
              <a:rPr sz="22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available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methods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resources.</a:t>
            </a:r>
            <a:endParaRPr sz="2200">
              <a:latin typeface="Times New Roman"/>
              <a:cs typeface="Times New Roman"/>
            </a:endParaRPr>
          </a:p>
          <a:p>
            <a:pPr marL="469900" marR="5715">
              <a:lnSpc>
                <a:spcPct val="80000"/>
              </a:lnSpc>
              <a:spcBef>
                <a:spcPts val="530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Aligned</a:t>
            </a:r>
            <a:r>
              <a:rPr sz="22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2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sz="22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align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2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overall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needs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collected.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2" y="0"/>
            <a:ext cx="9145905" cy="6858000"/>
            <a:chOff x="-822" y="0"/>
            <a:chExt cx="914590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55"/>
              <a:ext cx="9144000" cy="1026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8834" y="0"/>
              <a:ext cx="4745165" cy="6000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87904" cy="10205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822" y="52323"/>
              <a:ext cx="9145584" cy="90195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0108" y="211277"/>
            <a:ext cx="679767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Characteristics</a:t>
            </a:r>
            <a:r>
              <a:rPr sz="2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Effective</a:t>
            </a:r>
            <a:r>
              <a:rPr sz="2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6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600" spc="-10" dirty="0">
                <a:solidFill>
                  <a:srgbClr val="FFFFFF"/>
                </a:solidFill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108" y="675258"/>
            <a:ext cx="8537575" cy="452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5"/>
              </a:spcBef>
              <a:tabLst>
                <a:tab pos="1704339" algn="l"/>
                <a:tab pos="2460625" algn="l"/>
                <a:tab pos="3384550" algn="l"/>
                <a:tab pos="4168140" algn="l"/>
                <a:tab pos="4625340" algn="l"/>
                <a:tab pos="5674360" algn="l"/>
                <a:tab pos="6656705" algn="l"/>
                <a:tab pos="7068184" algn="l"/>
                <a:tab pos="7589520" algn="l"/>
              </a:tabLst>
            </a:pP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Focused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focus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aspects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problem.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Operationalizable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2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sz="22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capable</a:t>
            </a:r>
            <a:r>
              <a:rPr sz="22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being</a:t>
            </a:r>
            <a:r>
              <a:rPr sz="22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tested</a:t>
            </a:r>
            <a:r>
              <a:rPr sz="22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explored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collection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analysis.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Clear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straightforward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easily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understandable.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6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6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6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4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Descriptive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Aimed</a:t>
            </a:r>
            <a:r>
              <a:rPr sz="22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describing</a:t>
            </a:r>
            <a:r>
              <a:rPr sz="22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phenomenon</a:t>
            </a:r>
            <a:r>
              <a:rPr sz="220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(e.g.,</a:t>
            </a:r>
            <a:r>
              <a:rPr sz="22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“What</a:t>
            </a:r>
            <a:r>
              <a:rPr sz="2200" spc="3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effect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X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Y?”).</a:t>
            </a:r>
            <a:endParaRPr sz="2200">
              <a:latin typeface="Times New Roman"/>
              <a:cs typeface="Times New Roman"/>
            </a:endParaRPr>
          </a:p>
          <a:p>
            <a:pPr marL="469900" marR="6350">
              <a:lnSpc>
                <a:spcPct val="100000"/>
              </a:lnSpc>
              <a:spcBef>
                <a:spcPts val="530"/>
              </a:spcBef>
              <a:tabLst>
                <a:tab pos="2204720" algn="l"/>
                <a:tab pos="3296285" algn="l"/>
                <a:tab pos="3735070" algn="l"/>
                <a:tab pos="5076825" algn="l"/>
                <a:tab pos="6668770" algn="l"/>
                <a:tab pos="7065009" algn="l"/>
                <a:tab pos="7955280" algn="l"/>
              </a:tabLst>
            </a:pP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Explanatory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Focused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explaining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relationships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(e.g.,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“Why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lead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Y?”).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  <a:tabLst>
                <a:tab pos="2137410" algn="l"/>
                <a:tab pos="2839085" algn="l"/>
                <a:tab pos="3573779" algn="l"/>
                <a:tab pos="4217035" algn="l"/>
                <a:tab pos="4530725" algn="l"/>
                <a:tab pos="5418455" algn="l"/>
                <a:tab pos="6171565" algn="l"/>
                <a:tab pos="6641465" algn="l"/>
                <a:tab pos="7400290" algn="l"/>
              </a:tabLst>
            </a:pP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Exploratory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little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topic,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aiming</a:t>
            </a:r>
            <a:r>
              <a:rPr sz="22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explore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areas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(e.g., “What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challenges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faced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X?”).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6889</Words>
  <Application>Microsoft Office PowerPoint</Application>
  <PresentationFormat>On-screen Show (4:3)</PresentationFormat>
  <Paragraphs>690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 MT</vt:lpstr>
      <vt:lpstr>Constantia</vt:lpstr>
      <vt:lpstr>Segoe UI Symbol</vt:lpstr>
      <vt:lpstr>Times New Roman</vt:lpstr>
      <vt:lpstr>Wingdings</vt:lpstr>
      <vt:lpstr>Office Theme</vt:lpstr>
      <vt:lpstr>Research Process</vt:lpstr>
      <vt:lpstr>Research Design</vt:lpstr>
      <vt:lpstr>Definition</vt:lpstr>
      <vt:lpstr>PowerPoint Presentation</vt:lpstr>
      <vt:lpstr>(i) What is the study about?</vt:lpstr>
      <vt:lpstr>PowerPoint Presentation</vt:lpstr>
      <vt:lpstr>PowerPoint Presentation</vt:lpstr>
      <vt:lpstr>PowerPoint Presentation</vt:lpstr>
      <vt:lpstr>Research design in computer science</vt:lpstr>
      <vt:lpstr>3. Research Methodology</vt:lpstr>
      <vt:lpstr>PowerPoint Presentation</vt:lpstr>
      <vt:lpstr>PowerPoint Presentation</vt:lpstr>
      <vt:lpstr>Research Design Purpose</vt:lpstr>
      <vt:lpstr>Importance of a well-structured design</vt:lpstr>
      <vt:lpstr>Efficient Use of Resources – Proper planning prevents wastage of time, effort, and financial resources, making research more effective (Chawla &amp; Sondhi).</vt:lpstr>
      <vt:lpstr>Types of Research Designs</vt:lpstr>
      <vt:lpstr>Exploratory Research Design</vt:lpstr>
      <vt:lpstr>Objective: To explore the factors influencing people's decisions when selecting educational apps.</vt:lpstr>
      <vt:lpstr>Variable</vt:lpstr>
      <vt:lpstr>Descriptive Research Design</vt:lpstr>
      <vt:lpstr>Topic: Study Habits of College Students</vt:lpstr>
      <vt:lpstr>Experimental Research Design</vt:lpstr>
      <vt:lpstr>PowerPoint Presentation</vt:lpstr>
      <vt:lpstr>Quasi-Experimental Research Design</vt:lpstr>
      <vt:lpstr>Quasi-Experimental Research Design</vt:lpstr>
      <vt:lpstr>PowerPoint Presentation</vt:lpstr>
      <vt:lpstr>PowerPoint Presentation</vt:lpstr>
      <vt:lpstr>Components of Research Design</vt:lpstr>
      <vt:lpstr>Hypothesis</vt:lpstr>
      <vt:lpstr>PowerPoint Presentation</vt:lpstr>
      <vt:lpstr>A working hypothesis Is a tentative assumption proposed to guide research by helping to structure data collection and analysis.</vt:lpstr>
      <vt:lpstr>Methods for Developing Hypotheses:</vt:lpstr>
      <vt:lpstr>PowerPoint Presentation</vt:lpstr>
      <vt:lpstr>Variable</vt:lpstr>
      <vt:lpstr>Variable</vt:lpstr>
      <vt:lpstr>Variable</vt:lpstr>
      <vt:lpstr>Importance in Research</vt:lpstr>
      <vt:lpstr>PowerPoint Presentation</vt:lpstr>
      <vt:lpstr>Data Collection</vt:lpstr>
      <vt:lpstr>PowerPoint Presentation</vt:lpstr>
      <vt:lpstr>Determining sample design</vt:lpstr>
      <vt:lpstr>Validity and Reliability : Internal validity, External Validity, Construct validity, reliability and Consistency</vt:lpstr>
      <vt:lpstr>PowerPoint Presentation</vt:lpstr>
      <vt:lpstr>PowerPoint Presentation</vt:lpstr>
      <vt:lpstr>1) Content validity :</vt:lpstr>
      <vt:lpstr>PowerPoint Presentation</vt:lpstr>
      <vt:lpstr>PowerPoint Presentation</vt:lpstr>
      <vt:lpstr>PowerPoint Presentation</vt:lpstr>
      <vt:lpstr>PowerPoint Presentation</vt:lpstr>
      <vt:lpstr>Example</vt:lpstr>
      <vt:lpstr>Reliability</vt:lpstr>
      <vt:lpstr>1) Stability</vt:lpstr>
      <vt:lpstr>PowerPoint Presentation</vt:lpstr>
      <vt:lpstr>PowerPoint Presentation</vt:lpstr>
      <vt:lpstr>Determining sample design</vt:lpstr>
      <vt:lpstr>Probability sampling methods</vt:lpstr>
      <vt:lpstr>1. Simple random sampling</vt:lpstr>
      <vt:lpstr>2. Systematic sampling</vt:lpstr>
      <vt:lpstr>3. Stratified sampling</vt:lpstr>
      <vt:lpstr>4. Cluster sampling</vt:lpstr>
      <vt:lpstr>PowerPoint Presentation</vt:lpstr>
      <vt:lpstr>Non-probability sampling</vt:lpstr>
      <vt:lpstr>1. Convenience sampling</vt:lpstr>
      <vt:lpstr>2. Voluntary response sampling</vt:lpstr>
      <vt:lpstr>3. Purposive sampling</vt:lpstr>
      <vt:lpstr>4. Snowball sampling</vt:lpstr>
      <vt:lpstr>5. Quota Sampling</vt:lpstr>
      <vt:lpstr>PowerPoint Presentation</vt:lpstr>
      <vt:lpstr>Research Questions</vt:lpstr>
      <vt:lpstr>Characteristics of Effective Research Questions: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Process</dc:title>
  <dc:creator>Admin</dc:creator>
  <cp:lastModifiedBy>Admin</cp:lastModifiedBy>
  <cp:revision>2</cp:revision>
  <dcterms:created xsi:type="dcterms:W3CDTF">2025-03-23T00:40:35Z</dcterms:created>
  <dcterms:modified xsi:type="dcterms:W3CDTF">2025-03-23T00:46:54Z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2025-03-23T00:00:00Z</vt:filetime>
  </property>
  <property fmtid="{D5CDD505-2E9C-101B-9397-08002B2CF9AE}" pid="5" name="Producer">
    <vt:lpwstr>www.ilovepdf.com</vt:lpwstr>
  </property>
</Properties>
</file>